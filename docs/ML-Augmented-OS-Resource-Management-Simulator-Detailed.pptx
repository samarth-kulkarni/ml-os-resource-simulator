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350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 i="0">
                <a:solidFill>
                  <a:srgbClr val="FFFFFF"/>
                </a:solidFill>
                <a:latin typeface="Segoe UI"/>
              </a:defRPr>
            </a:pPr>
            <a:r>
              <a:t>ML-Augmented CPU Scheduling with</a:t>
            </a:r>
            <a:br/>
            <a:r>
              <a:t>Adaptive Fallback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1">
                <a:solidFill>
                  <a:srgbClr val="94A3B8"/>
                </a:solidFill>
                <a:latin typeface="Segoe UI"/>
              </a:defRPr>
            </a:pPr>
            <a:r>
              <a:t>A Decision-Tree-Based Predicted-SJF Approach within a Unified</a:t>
            </a:r>
            <a:br/>
            <a:r>
              <a:t>Operating System Resource Management Simulator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657600"/>
            <a:ext cx="22860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19"/>
              </a:spcAft>
              <a:defRPr sz="1400" b="0">
                <a:solidFill>
                  <a:srgbClr val="CBD5E1"/>
                </a:solidFill>
                <a:latin typeface="Segoe UI"/>
              </a:defRPr>
            </a:pPr>
            <a:r>
              <a:t>Dr. Amar Buchade (Guide)  |  Dept. of AI and Data Science, VIT Pune</a:t>
            </a:r>
          </a:p>
          <a:p>
            <a:pPr>
              <a:spcAft>
                <a:spcPts val="419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Swaroop Lenka  |  Samarth Kulkarni  |  Madhur Nichal</a:t>
            </a:r>
          </a:p>
          <a:p>
            <a:pPr>
              <a:spcAft>
                <a:spcPts val="419"/>
              </a:spcAft>
              <a:defRPr sz="1400" b="0">
                <a:solidFill>
                  <a:srgbClr val="94A3B8"/>
                </a:solidFill>
                <a:latin typeface="Segoe UI"/>
              </a:defRPr>
            </a:pPr>
            <a:r>
              <a:t>Vishwakarma Institute of Technology, Pune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69280"/>
            <a:ext cx="4114800" cy="548640"/>
          </a:xfrm>
          <a:prstGeom prst="roundRect">
            <a:avLst/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715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3B82F6"/>
                </a:solidFill>
                <a:latin typeface="Segoe UI"/>
              </a:defRPr>
            </a:pPr>
            <a:r>
              <a:t>Operating Systems  |  Academic Year 2026-27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54864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3B82F6"/>
                </a:solidFill>
                <a:latin typeface="Segoe UI"/>
              </a:defRPr>
            </a:pPr>
            <a:r>
              <a:t>SECTION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Segoe UI"/>
              </a:defRPr>
            </a:pPr>
            <a:r>
              <a:t>Problem Statement &amp;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5029200" cy="3931920"/>
          </a:xfrm>
          <a:prstGeom prst="roundRect">
            <a:avLst/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423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EF4444"/>
                </a:solidFill>
                <a:latin typeface="Segoe UI"/>
              </a:defRPr>
            </a:pPr>
            <a:r>
              <a:t>THE PROBLEM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2788920"/>
            <a:ext cx="109728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92608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89"/>
              </a:spcAft>
              <a:defRPr sz="1300" b="0">
                <a:solidFill>
                  <a:srgbClr val="CBD5E1"/>
                </a:solidFill>
                <a:latin typeface="Segoe UI"/>
              </a:defRPr>
            </a:pPr>
            <a:r>
              <a:t>SJF is provably optimal for minimizing average</a:t>
            </a:r>
          </a:p>
          <a:p>
            <a:pPr>
              <a:spcAft>
                <a:spcPts val="389"/>
              </a:spcAft>
              <a:defRPr sz="1300" b="0">
                <a:solidFill>
                  <a:srgbClr val="CBD5E1"/>
                </a:solidFill>
                <a:latin typeface="Segoe UI"/>
              </a:defRPr>
            </a:pPr>
            <a:r>
              <a:t>waiting time, but requires future burst knowledge</a:t>
            </a:r>
          </a:p>
          <a:p>
            <a:pPr>
              <a:spcAft>
                <a:spcPts val="389"/>
              </a:spcAft>
              <a:defRPr sz="1300" b="0">
                <a:solidFill>
                  <a:srgbClr val="CBD5E1"/>
                </a:solidFill>
                <a:latin typeface="Segoe UI"/>
              </a:defRPr>
            </a:pPr>
            <a:r>
              <a:t>that is impossible to obtain in real systems [1].</a:t>
            </a:r>
          </a:p>
          <a:p>
            <a:pPr>
              <a:spcAft>
                <a:spcPts val="389"/>
              </a:spcAft>
              <a:defRPr sz="1300" b="0">
                <a:solidFill>
                  <a:srgbClr val="CBD5E1"/>
                </a:solidFill>
                <a:latin typeface="Segoe UI"/>
              </a:defRPr>
            </a:pPr>
          </a:p>
          <a:p>
            <a:pPr>
              <a:spcAft>
                <a:spcPts val="389"/>
              </a:spcAft>
              <a:defRPr sz="1300" b="0">
                <a:solidFill>
                  <a:srgbClr val="CBD5E1"/>
                </a:solidFill>
                <a:latin typeface="Segoe UI"/>
              </a:defRPr>
            </a:pPr>
            <a:r>
              <a:t>Operational schedulers must resort to FCFS, Round</a:t>
            </a:r>
          </a:p>
          <a:p>
            <a:pPr>
              <a:spcAft>
                <a:spcPts val="389"/>
              </a:spcAft>
              <a:defRPr sz="1300" b="0">
                <a:solidFill>
                  <a:srgbClr val="CBD5E1"/>
                </a:solidFill>
                <a:latin typeface="Segoe UI"/>
              </a:defRPr>
            </a:pPr>
            <a:r>
              <a:t>Robin, or static priorities -- none of which adapt</a:t>
            </a:r>
          </a:p>
          <a:p>
            <a:pPr>
              <a:spcAft>
                <a:spcPts val="389"/>
              </a:spcAft>
              <a:defRPr sz="1300" b="0">
                <a:solidFill>
                  <a:srgbClr val="CBD5E1"/>
                </a:solidFill>
                <a:latin typeface="Segoe UI"/>
              </a:defRPr>
            </a:pPr>
            <a:r>
              <a:t>to actual workload characteristics.</a:t>
            </a:r>
          </a:p>
          <a:p>
            <a:pPr>
              <a:spcAft>
                <a:spcPts val="389"/>
              </a:spcAft>
              <a:defRPr sz="1300" b="0">
                <a:solidFill>
                  <a:srgbClr val="CBD5E1"/>
                </a:solidFill>
                <a:latin typeface="Segoe UI"/>
              </a:defRPr>
            </a:pPr>
          </a:p>
          <a:p>
            <a:pPr>
              <a:spcAft>
                <a:spcPts val="389"/>
              </a:spcAft>
              <a:defRPr sz="1300" b="0">
                <a:solidFill>
                  <a:srgbClr val="CBD5E1"/>
                </a:solidFill>
                <a:latin typeface="Segoe UI"/>
              </a:defRPr>
            </a:pPr>
            <a:r>
              <a:t>Similar rigidity affects deadlock avoidance and disk</a:t>
            </a:r>
          </a:p>
          <a:p>
            <a:pPr>
              <a:spcAft>
                <a:spcPts val="389"/>
              </a:spcAft>
              <a:defRPr sz="1300" b="0">
                <a:solidFill>
                  <a:srgbClr val="CBD5E1"/>
                </a:solidFill>
                <a:latin typeface="Segoe UI"/>
              </a:defRPr>
            </a:pPr>
            <a:r>
              <a:t>scheduling subsystems.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286000"/>
            <a:ext cx="5303520" cy="3931920"/>
          </a:xfrm>
          <a:prstGeom prst="roundRect">
            <a:avLst/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423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0B981"/>
                </a:solidFill>
                <a:latin typeface="Segoe UI"/>
              </a:defRPr>
            </a:pPr>
            <a:r>
              <a:t>PROJECT OBJECTIVES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2788920"/>
            <a:ext cx="164592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2608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0" sz="1250">
                <a:solidFill>
                  <a:srgbClr val="CBD5E1"/>
                </a:solidFill>
                <a:latin typeface="Segoe UI"/>
              </a:defRPr>
            </a:pPr>
            <a:r>
              <a:t>  Predict CPU burst times from pre-submission telemetry using Decision Tree Regression</a:t>
            </a:r>
          </a:p>
          <a:p>
            <a:pPr>
              <a:spcAft>
                <a:spcPts val="400"/>
              </a:spcAft>
              <a:defRPr b="0" sz="1250">
                <a:solidFill>
                  <a:srgbClr val="CBD5E1"/>
                </a:solidFill>
                <a:latin typeface="Segoe UI"/>
              </a:defRPr>
            </a:pPr>
            <a:r>
              <a:t>  Implement Predicted-SJF scheduling achieving near-Oracle optimal waiting times</a:t>
            </a:r>
          </a:p>
          <a:p>
            <a:pPr>
              <a:spcAft>
                <a:spcPts val="400"/>
              </a:spcAft>
              <a:defRPr b="0" sz="1250">
                <a:solidFill>
                  <a:srgbClr val="CBD5E1"/>
                </a:solidFill>
                <a:latin typeface="Segoe UI"/>
              </a:defRPr>
            </a:pPr>
            <a:r>
              <a:t>  Design a two-tier adaptive fallback (process-level + workload-level circuit breakers)</a:t>
            </a:r>
          </a:p>
          <a:p>
            <a:pPr>
              <a:spcAft>
                <a:spcPts val="400"/>
              </a:spcAft>
              <a:defRPr b="0" sz="1250">
                <a:solidFill>
                  <a:srgbClr val="CBD5E1"/>
                </a:solidFill>
                <a:latin typeface="Segoe UI"/>
              </a:defRPr>
            </a:pPr>
            <a:r>
              <a:t>  Integrate classical Banker's Algorithm for deterministic deadlock avoidance</a:t>
            </a:r>
          </a:p>
          <a:p>
            <a:pPr>
              <a:spcAft>
                <a:spcPts val="400"/>
              </a:spcAft>
              <a:defRPr b="0" sz="1250">
                <a:solidFill>
                  <a:srgbClr val="CBD5E1"/>
                </a:solidFill>
                <a:latin typeface="Segoe UI"/>
              </a:defRPr>
            </a:pPr>
            <a:r>
              <a:t>  Implement FCFS, SSTF, SCAN, C-SCAN disk scheduling with seek-distance accounting</a:t>
            </a:r>
          </a:p>
          <a:p>
            <a:pPr>
              <a:spcAft>
                <a:spcPts val="400"/>
              </a:spcAft>
              <a:defRPr b="0" sz="1250">
                <a:solidFill>
                  <a:srgbClr val="CBD5E1"/>
                </a:solidFill>
                <a:latin typeface="Segoe UI"/>
              </a:defRPr>
            </a:pPr>
            <a:r>
              <a:t>  Build an interactive web-based simulator with real-time Gantt charts and telemetry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54864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3B82F6"/>
                </a:solidFill>
                <a:latin typeface="Segoe UI"/>
              </a:defRPr>
            </a:pPr>
            <a:r>
              <a:t>SECTION 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Segoe UI"/>
              </a:defRPr>
            </a:pPr>
            <a:r>
              <a:t>Related Work &amp; Literature Survey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94A3B8"/>
                </a:solidFill>
                <a:latin typeface="Segoe UI"/>
              </a:defRPr>
            </a:pPr>
            <a:r>
              <a:t>Design and scope decisions validated by literature from 2015 to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3474720" cy="1828800"/>
          </a:xfrm>
          <a:prstGeom prst="roundRect">
            <a:avLst/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3B82F6"/>
                </a:solidFill>
                <a:latin typeface="Consolas"/>
              </a:defRPr>
            </a:pPr>
            <a:r>
              <a:t>[1] Helmy et al., IEEE AIMS 2015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Segoe UI"/>
              </a:defRPr>
            </a:pPr>
            <a:r>
              <a:t>ML-based burst-time prediction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0040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94A3B8"/>
                </a:solidFill>
                <a:latin typeface="Segoe UI"/>
              </a:defRPr>
            </a:pPr>
            <a:r>
              <a:t>Established feature extraction pipeline for burst estimation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2286000"/>
            <a:ext cx="3474720" cy="1828800"/>
          </a:xfrm>
          <a:prstGeom prst="roundRect">
            <a:avLst/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39" y="24231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3B82F6"/>
                </a:solidFill>
                <a:latin typeface="Consolas"/>
              </a:defRPr>
            </a:pPr>
            <a:r>
              <a:t>[2] IEEE DELCON 2022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39" y="27432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Segoe UI"/>
              </a:defRPr>
            </a:pPr>
            <a:r>
              <a:t>Burst-Time Estimation using 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39" y="320040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94A3B8"/>
                </a:solidFill>
                <a:latin typeface="Segoe UI"/>
              </a:defRPr>
            </a:pPr>
            <a:r>
              <a:t>Compared RF, XGBoost, KNN, DT; tree ensembles best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286000"/>
            <a:ext cx="3474720" cy="1828800"/>
          </a:xfrm>
          <a:prstGeom prst="roundRect">
            <a:avLst/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24231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3B82F6"/>
                </a:solidFill>
                <a:latin typeface="Consolas"/>
              </a:defRPr>
            </a:pPr>
            <a:r>
              <a:t>[3] ResearchGate 2025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7432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Segoe UI"/>
              </a:defRPr>
            </a:pPr>
            <a:r>
              <a:t>Predicted SJF/SRTF with 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20040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94A3B8"/>
                </a:solidFill>
                <a:latin typeface="Segoe UI"/>
              </a:defRPr>
            </a:pPr>
            <a:r>
              <a:t>20-50% higher throughput, 31-36% lower response time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389120"/>
            <a:ext cx="3474720" cy="1828800"/>
          </a:xfrm>
          <a:prstGeom prst="roundRect">
            <a:avLst/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5262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3B82F6"/>
                </a:solidFill>
                <a:latin typeface="Consolas"/>
              </a:defRPr>
            </a:pPr>
            <a:r>
              <a:t>[4] arXiv:2609.13701, 2025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846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Segoe UI"/>
              </a:defRPr>
            </a:pPr>
            <a:r>
              <a:t>Leakage-Safe Feature 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30352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94A3B8"/>
                </a:solidFill>
                <a:latin typeface="Segoe UI"/>
              </a:defRPr>
            </a:pPr>
            <a:r>
              <a:t>Pre-submission-only feature policy for grid job prediction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59" y="4389120"/>
            <a:ext cx="3474720" cy="1828800"/>
          </a:xfrm>
          <a:prstGeom prst="roundRect">
            <a:avLst/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39" y="45262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3B82F6"/>
                </a:solidFill>
                <a:latin typeface="Consolas"/>
              </a:defRPr>
            </a:pPr>
            <a:r>
              <a:t>[5] arXiv:2511.11628, 2025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39" y="4846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Segoe UI"/>
              </a:defRPr>
            </a:pPr>
            <a:r>
              <a:t>Mixture-of-Schedulers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39" y="530352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94A3B8"/>
                </a:solidFill>
                <a:latin typeface="Segoe UI"/>
              </a:defRPr>
            </a:pPr>
            <a:r>
              <a:t>Learned router selecting between expert scheduling policies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4389120"/>
            <a:ext cx="3474720" cy="1828800"/>
          </a:xfrm>
          <a:prstGeom prst="roundRect">
            <a:avLst/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45262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3B82F6"/>
                </a:solidFill>
                <a:latin typeface="Consolas"/>
              </a:defRPr>
            </a:pPr>
            <a:r>
              <a:t>[6] arXiv:2505.15213, 2025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846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Segoe UI"/>
              </a:defRPr>
            </a:pPr>
            <a:r>
              <a:t>KernelOracle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530352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94A3B8"/>
                </a:solidFill>
                <a:latin typeface="Segoe UI"/>
              </a:defRPr>
            </a:pPr>
            <a:r>
              <a:t>Deep learning forecasting Linux CFS scheduler decisions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54864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3B82F6"/>
                </a:solidFill>
                <a:latin typeface="Segoe UI"/>
              </a:defRPr>
            </a:pPr>
            <a:r>
              <a:t>SECTION 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94A3B8"/>
                </a:solidFill>
                <a:latin typeface="Segoe UI"/>
              </a:defRPr>
            </a:pPr>
            <a:r>
              <a:t>Four-layer modular design: Presentation, API Gateway, Core Engine, ML Intelligence</a:t>
            </a:r>
          </a:p>
        </p:txBody>
      </p:sp>
      <p:pic>
        <p:nvPicPr>
          <p:cNvPr id="6" name="Picture 5" descr="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9418320" cy="561293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71600" y="6400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1">
                <a:solidFill>
                  <a:srgbClr val="94A3B8"/>
                </a:solidFill>
                <a:latin typeface="Segoe UI"/>
              </a:defRPr>
            </a:pPr>
            <a:r>
              <a:t>Fig. 1.  Unified Operating System Resource Management Simulator Architecture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54864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3B82F6"/>
                </a:solidFill>
                <a:latin typeface="Segoe UI"/>
              </a:defRPr>
            </a:pPr>
            <a:r>
              <a:t>SECTION III-B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Segoe UI"/>
              </a:defRPr>
            </a:pPr>
            <a:r>
              <a:t>Technology Stack &amp; Implementation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2560320" cy="4114800"/>
          </a:xfrm>
          <a:prstGeom prst="roundRect">
            <a:avLst/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3B82F6"/>
                </a:solidFill>
                <a:latin typeface="Segoe UI"/>
              </a:defRPr>
            </a:pPr>
            <a:r>
              <a:t>FRONTEND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651760"/>
            <a:ext cx="9144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83464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  React 18.2 (Component-based UI)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  Vite 5.2 (Build tooling &amp; HMR)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  Tailwind CSS 3.4 (Utility-first styling)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  Lucide React (Icon system)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  Axios (HTTP client for REST calls)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2194560"/>
            <a:ext cx="2560320" cy="4114800"/>
          </a:xfrm>
          <a:prstGeom prst="roundRect">
            <a:avLst/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40" y="23317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0B981"/>
                </a:solidFill>
                <a:latin typeface="Segoe UI"/>
              </a:defRPr>
            </a:pPr>
            <a:r>
              <a:t>BACKEND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49040" y="2651760"/>
            <a:ext cx="9144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283464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  Python 3.14 (Runtime)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  FastAPI (Async REST framework)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  Uvicorn (ASGI server)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  Pydantic 2.0 (Schema validation)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194560"/>
            <a:ext cx="2560320" cy="4114800"/>
          </a:xfrm>
          <a:prstGeom prst="roundRect">
            <a:avLst/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3317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8B5CF6"/>
                </a:solidFill>
                <a:latin typeface="Segoe UI"/>
              </a:defRPr>
            </a:pPr>
            <a:r>
              <a:t>ML &amp; DATA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2651760"/>
            <a:ext cx="91440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283464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  Scikit-learn 1.3 (DecisionTreeRegressor)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  NumPy (Numerical operations)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  Pandas (Dataframe operations)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  Joblib (Model serialization)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2194560"/>
            <a:ext cx="2560320" cy="4114800"/>
          </a:xfrm>
          <a:prstGeom prst="roundRect">
            <a:avLst/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0" y="23317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59E0B"/>
                </a:solidFill>
                <a:latin typeface="Segoe UI"/>
              </a:defRPr>
            </a:pPr>
            <a:r>
              <a:t>TESTING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18320" y="2651760"/>
            <a:ext cx="9144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72600" y="283464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  Pytest (11 automated unit tests)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  3 Deadlock + 4 Disk + 4 CPU/ML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  All 11 tests passing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54864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3B82F6"/>
                </a:solidFill>
                <a:latin typeface="Segoe UI"/>
              </a:defRPr>
            </a:pPr>
            <a:r>
              <a:t>SECTION IV-A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Segoe UI"/>
              </a:defRPr>
            </a:pPr>
            <a:r>
              <a:t>Classical CPU Scheduling Baselines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94A3B8"/>
                </a:solidFill>
                <a:latin typeface="Segoe UI"/>
              </a:defRPr>
            </a:pPr>
            <a:r>
              <a:t>Non-preemptive and preemptive baselines for controlled benchmarking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3383280" cy="2011680"/>
          </a:xfrm>
          <a:prstGeom prst="roundRect">
            <a:avLst/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9572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94A3B8"/>
                </a:solidFill>
                <a:latin typeface="Segoe UI"/>
              </a:defRPr>
            </a:pPr>
            <a:r>
              <a:t>FCFS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94A3B8"/>
                </a:solidFill>
                <a:latin typeface="Segoe UI"/>
              </a:defRPr>
            </a:pPr>
            <a:r>
              <a:t>First-Come, First-Served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BD5E1"/>
                </a:solidFill>
                <a:latin typeface="Segoe UI"/>
              </a:defRPr>
            </a:pPr>
            <a:r>
              <a:t>Processes execute in arrival order. Simple but susceptible to the convoy effect where short processes wait behind long ones.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286000"/>
            <a:ext cx="3383280" cy="2011680"/>
          </a:xfrm>
          <a:prstGeom prst="roundRect">
            <a:avLst/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39572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0B981"/>
                </a:solidFill>
                <a:latin typeface="Segoe UI"/>
              </a:defRPr>
            </a:pPr>
            <a:r>
              <a:t>SJF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6974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94A3B8"/>
                </a:solidFill>
                <a:latin typeface="Segoe UI"/>
              </a:defRPr>
            </a:pPr>
            <a:r>
              <a:t>Shortest Job First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01752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BD5E1"/>
                </a:solidFill>
                <a:latin typeface="Segoe UI"/>
              </a:defRPr>
            </a:pPr>
            <a:r>
              <a:t>Non-preemptive. Provably minimizes average waiting time but requires future burst knowledge -- impossible in real systems.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286000"/>
            <a:ext cx="3383280" cy="2011680"/>
          </a:xfrm>
          <a:prstGeom prst="roundRect">
            <a:avLst/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239572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6B6D4"/>
                </a:solidFill>
                <a:latin typeface="Segoe UI"/>
              </a:defRPr>
            </a:pPr>
            <a:r>
              <a:t>SRTF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6974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94A3B8"/>
                </a:solidFill>
                <a:latin typeface="Segoe UI"/>
              </a:defRPr>
            </a:pPr>
            <a:r>
              <a:t>Shortest Remaining Time First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01752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BD5E1"/>
                </a:solidFill>
                <a:latin typeface="Segoe UI"/>
              </a:defRPr>
            </a:pPr>
            <a:r>
              <a:t>Preemptive variant of SJF. Shorter arriving processes interrupt longer running ones. Theoretical optimum for preemptive scheduling.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572000"/>
            <a:ext cx="3383280" cy="2011680"/>
          </a:xfrm>
          <a:prstGeom prst="roundRect">
            <a:avLst/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68172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3B82F6"/>
                </a:solidFill>
                <a:latin typeface="Segoe UI"/>
              </a:defRPr>
            </a:pPr>
            <a:r>
              <a:t>Round Robin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9834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94A3B8"/>
                </a:solidFill>
                <a:latin typeface="Segoe UI"/>
              </a:defRPr>
            </a:pPr>
            <a:r>
              <a:t>Time-Sliced Fair Scheduling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30352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BD5E1"/>
                </a:solidFill>
                <a:latin typeface="Segoe UI"/>
              </a:defRPr>
            </a:pPr>
            <a:r>
              <a:t>Fixed quantum q=2 ensures equal CPU distribution. Fair but can increase average waiting time for heterogeneous workloads.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4572000"/>
            <a:ext cx="3383280" cy="2011680"/>
          </a:xfrm>
          <a:prstGeom prst="roundRect">
            <a:avLst/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468172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59E0B"/>
                </a:solidFill>
                <a:latin typeface="Segoe UI"/>
              </a:defRPr>
            </a:pPr>
            <a:r>
              <a:t>Priority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9834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94A3B8"/>
                </a:solidFill>
                <a:latin typeface="Segoe UI"/>
              </a:defRPr>
            </a:pPr>
            <a:r>
              <a:t>Static Priority-Based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530352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BD5E1"/>
                </a:solidFill>
                <a:latin typeface="Segoe UI"/>
              </a:defRPr>
            </a:pPr>
            <a:r>
              <a:t>Higher-priority processes execute first. Risks starvation of low-priority processes without aging mechanisms.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6400800"/>
            <a:ext cx="10698480" cy="365760"/>
          </a:xfrm>
          <a:prstGeom prst="roundRect">
            <a:avLst/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641908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94A3B8"/>
                </a:solidFill>
                <a:latin typeface="Consolas"/>
              </a:defRPr>
            </a:pPr>
            <a:r>
              <a:t>Metrics Computed:  Waiting Time (Wi = Starti - Arrivali)  |  Turnaround Time (Ti = Completioni - Arrivali)  |  Response Time (Ri = FirstRuni - Arrivali)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54864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3B82F6"/>
                </a:solidFill>
                <a:latin typeface="Segoe UI"/>
              </a:defRPr>
            </a:pPr>
            <a:r>
              <a:t>SECTION IV-B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Segoe UI"/>
              </a:defRPr>
            </a:pPr>
            <a:r>
              <a:t>ML-Based Burst-Time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94A3B8"/>
                </a:solidFill>
                <a:latin typeface="Segoe UI"/>
              </a:defRPr>
            </a:pPr>
            <a:r>
              <a:t>Decision Tree Regressor trained on leakage-safe pre-submission features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5029200" cy="4114800"/>
          </a:xfrm>
          <a:prstGeom prst="roundRect">
            <a:avLst/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3B82F6"/>
                </a:solidFill>
                <a:latin typeface="Segoe UI"/>
              </a:defRPr>
            </a:pPr>
            <a:r>
              <a:t>7-DIMENSIONAL FEATURE VECTOR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697480"/>
            <a:ext cx="22860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83464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1">
                <a:solidFill>
                  <a:srgbClr val="06B6D4"/>
                </a:solidFill>
                <a:latin typeface="Consolas"/>
              </a:defRPr>
            </a:pPr>
            <a:r>
              <a:t>NUMERIC (6 features)</a:t>
            </a:r>
          </a:p>
          <a:p>
            <a:pPr>
              <a:spcAft>
                <a:spcPts val="359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requested_memory_mb    (64 - 4096 MB)</a:t>
            </a:r>
          </a:p>
          <a:p>
            <a:pPr>
              <a:spcAft>
                <a:spcPts val="359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static_priority        (0 - 19)</a:t>
            </a:r>
          </a:p>
          <a:p>
            <a:pPr>
              <a:spcAft>
                <a:spcPts val="359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historical_burst_avg   (auto-derived)</a:t>
            </a:r>
          </a:p>
          <a:p>
            <a:pPr>
              <a:spcAft>
                <a:spcPts val="359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past_burst_1           (most recent)</a:t>
            </a:r>
          </a:p>
          <a:p>
            <a:pPr>
              <a:spcAft>
                <a:spcPts val="359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past_burst_2           (second recent)</a:t>
            </a:r>
          </a:p>
          <a:p>
            <a:pPr>
              <a:spcAft>
                <a:spcPts val="359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past_burst_3           (third recent)</a:t>
            </a:r>
          </a:p>
          <a:p>
            <a:pPr>
              <a:spcAft>
                <a:spcPts val="359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</a:p>
          <a:p>
            <a:pPr>
              <a:spcAft>
                <a:spcPts val="359"/>
              </a:spcAft>
              <a:defRPr sz="1200" b="1">
                <a:solidFill>
                  <a:srgbClr val="06B6D4"/>
                </a:solidFill>
                <a:latin typeface="Consolas"/>
              </a:defRPr>
            </a:pPr>
            <a:r>
              <a:t>CATEGORICAL (1 feature)</a:t>
            </a:r>
          </a:p>
          <a:p>
            <a:pPr>
              <a:spcAft>
                <a:spcPts val="359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process_type:  interactive | bursty | batch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286000"/>
            <a:ext cx="5303520" cy="4114800"/>
          </a:xfrm>
          <a:prstGeom prst="roundRect">
            <a:avLst/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0B981"/>
                </a:solidFill>
                <a:latin typeface="Segoe UI"/>
              </a:defRPr>
            </a:pPr>
            <a:r>
              <a:t>MODEL CONFIGURATION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2697480"/>
            <a:ext cx="18288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83464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29"/>
              </a:spcAft>
              <a:defRPr sz="1100" b="1">
                <a:solidFill>
                  <a:srgbClr val="FFFFFF"/>
                </a:solidFill>
                <a:latin typeface="Consolas"/>
              </a:defRPr>
            </a:pPr>
            <a:r>
              <a:t>Model: DecisionTreeRegressor</a:t>
            </a:r>
          </a:p>
          <a:p>
            <a:pPr>
              <a:spcAft>
                <a:spcPts val="329"/>
              </a:spcAft>
              <a:defRPr sz="1100" b="0">
                <a:solidFill>
                  <a:srgbClr val="CBD5E1"/>
                </a:solidFill>
                <a:latin typeface="Consolas"/>
              </a:defRPr>
            </a:pPr>
            <a:r>
              <a:t>  max_depth = 5</a:t>
            </a:r>
          </a:p>
          <a:p>
            <a:pPr>
              <a:spcAft>
                <a:spcPts val="329"/>
              </a:spcAft>
              <a:defRPr sz="1100" b="0">
                <a:solidFill>
                  <a:srgbClr val="CBD5E1"/>
                </a:solidFill>
                <a:latin typeface="Consolas"/>
              </a:defRPr>
            </a:pPr>
            <a:r>
              <a:t>  min_samples_leaf = 10</a:t>
            </a:r>
          </a:p>
          <a:p>
            <a:pPr>
              <a:spcAft>
                <a:spcPts val="329"/>
              </a:spcAft>
              <a:defRPr sz="1100" b="0">
                <a:solidFill>
                  <a:srgbClr val="CBD5E1"/>
                </a:solidFill>
                <a:latin typeface="Consolas"/>
              </a:defRPr>
            </a:pPr>
            <a:r>
              <a:t>  criterion = squared_error</a:t>
            </a:r>
          </a:p>
          <a:p>
            <a:pPr>
              <a:spcAft>
                <a:spcPts val="329"/>
              </a:spcAft>
              <a:defRPr sz="1100" b="0">
                <a:solidFill>
                  <a:srgbClr val="CBD5E1"/>
                </a:solidFill>
                <a:latin typeface="Consolas"/>
              </a:defRPr>
            </a:pPr>
            <a:r>
              <a:t>  random_state = 42</a:t>
            </a:r>
          </a:p>
          <a:p>
            <a:pPr>
              <a:spcAft>
                <a:spcPts val="329"/>
              </a:spcAft>
              <a:defRPr sz="1100" b="0">
                <a:solidFill>
                  <a:srgbClr val="CBD5E1"/>
                </a:solidFill>
                <a:latin typeface="Consolas"/>
              </a:defRPr>
            </a:pPr>
          </a:p>
          <a:p>
            <a:pPr>
              <a:spcAft>
                <a:spcPts val="329"/>
              </a:spcAft>
              <a:defRPr sz="1100" b="1">
                <a:solidFill>
                  <a:srgbClr val="FFFFFF"/>
                </a:solidFill>
                <a:latin typeface="Consolas"/>
              </a:defRPr>
            </a:pPr>
            <a:r>
              <a:t>Pipeline: ColumnTransformer</a:t>
            </a:r>
          </a:p>
          <a:p>
            <a:pPr>
              <a:spcAft>
                <a:spcPts val="329"/>
              </a:spcAft>
              <a:defRPr sz="1100" b="0">
                <a:solidFill>
                  <a:srgbClr val="CBD5E1"/>
                </a:solidFill>
                <a:latin typeface="Consolas"/>
              </a:defRPr>
            </a:pPr>
            <a:r>
              <a:t>  Numeric:     StandardScaler</a:t>
            </a:r>
          </a:p>
          <a:p>
            <a:pPr>
              <a:spcAft>
                <a:spcPts val="329"/>
              </a:spcAft>
              <a:defRPr sz="1100" b="0">
                <a:solidFill>
                  <a:srgbClr val="CBD5E1"/>
                </a:solidFill>
                <a:latin typeface="Consolas"/>
              </a:defRPr>
            </a:pPr>
            <a:r>
              <a:t>  Categorical: OneHotEncoder(handle_unknown='ignore')</a:t>
            </a:r>
          </a:p>
          <a:p>
            <a:pPr>
              <a:spcAft>
                <a:spcPts val="329"/>
              </a:spcAft>
              <a:defRPr sz="1100" b="0">
                <a:solidFill>
                  <a:srgbClr val="CBD5E1"/>
                </a:solidFill>
                <a:latin typeface="Consolas"/>
              </a:defRPr>
            </a:pPr>
          </a:p>
          <a:p>
            <a:pPr>
              <a:spcAft>
                <a:spcPts val="329"/>
              </a:spcAft>
              <a:defRPr sz="1100" b="1">
                <a:solidFill>
                  <a:srgbClr val="F59E0B"/>
                </a:solidFill>
                <a:latin typeface="Consolas"/>
              </a:defRPr>
            </a:pPr>
            <a:r>
              <a:t>Leakage Safety [4]:</a:t>
            </a:r>
          </a:p>
          <a:p>
            <a:pPr>
              <a:spcAft>
                <a:spcPts val="329"/>
              </a:spcAft>
              <a:defRPr sz="1100" b="0">
                <a:solidFill>
                  <a:srgbClr val="CBD5E1"/>
                </a:solidFill>
                <a:latin typeface="Consolas"/>
              </a:defRPr>
            </a:pPr>
            <a:r>
              <a:t>  Enrichment never exposes true future burst</a:t>
            </a:r>
          </a:p>
          <a:p>
            <a:pPr>
              <a:spcAft>
                <a:spcPts val="329"/>
              </a:spcAft>
              <a:defRPr sz="1100" b="0">
                <a:solidFill>
                  <a:srgbClr val="CBD5E1"/>
                </a:solidFill>
                <a:latin typeface="Consolas"/>
              </a:defRPr>
            </a:pPr>
            <a:r>
              <a:t>  Historical bursts auto-derived from burst_time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54864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3B82F6"/>
                </a:solidFill>
                <a:latin typeface="Segoe UI"/>
              </a:defRPr>
            </a:pPr>
            <a:r>
              <a:t>SECTION IV-B.2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Segoe UI"/>
              </a:defRPr>
            </a:pPr>
            <a:r>
              <a:t>Synthetic Workload Generation &amp; Process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94A3B8"/>
                </a:solidFill>
                <a:latin typeface="Segoe UI"/>
              </a:defRPr>
            </a:pPr>
            <a:r>
              <a:t>Training: 2,000 records | Testing: 500 records | Fixed random seed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3474720" cy="4114800"/>
          </a:xfrm>
          <a:prstGeom prst="roundRect">
            <a:avLst/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0B981"/>
                </a:solidFill>
                <a:latin typeface="Segoe UI"/>
              </a:defRPr>
            </a:pPr>
            <a:r>
              <a:t>INTERACTIVE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94A3B8"/>
                </a:solidFill>
                <a:latin typeface="Segoe UI"/>
              </a:defRPr>
            </a:pPr>
            <a:r>
              <a:t>GUI, Terminals, Shells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063240"/>
            <a:ext cx="13716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Distribution: Exponential (mean=3)</a:t>
            </a:r>
          </a:p>
          <a:p>
            <a:pPr>
              <a:spcAft>
                <a:spcPts val="359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Burst Range: 1-4 ms</a:t>
            </a:r>
          </a:p>
          <a:p>
            <a:pPr>
              <a:spcAft>
                <a:spcPts val="359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Memory: 64-256 MB</a:t>
            </a:r>
          </a:p>
          <a:p>
            <a:pPr>
              <a:spcAft>
                <a:spcPts val="359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Priority: 0-5 (high)</a:t>
            </a:r>
          </a:p>
          <a:p>
            <a:pPr>
              <a:spcAft>
                <a:spcPts val="359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real: expovariate(1/3)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2286000"/>
            <a:ext cx="3474720" cy="4114800"/>
          </a:xfrm>
          <a:prstGeom prst="roundRect">
            <a:avLst/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39" y="24231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59E0B"/>
                </a:solidFill>
                <a:latin typeface="Segoe UI"/>
              </a:defRPr>
            </a:pPr>
            <a:r>
              <a:t>BURSTY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39" y="27889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94A3B8"/>
                </a:solidFill>
                <a:latin typeface="Segoe UI"/>
              </a:defRPr>
            </a:pPr>
            <a:r>
              <a:t>Database Queries, Web Servers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39" y="3063240"/>
            <a:ext cx="13716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39" y="3200400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Distribution: Pareto (alpha=1.5)</a:t>
            </a:r>
          </a:p>
          <a:p>
            <a:pPr>
              <a:spcAft>
                <a:spcPts val="359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Burst Range: 5-13 ms (heavy-tailed)</a:t>
            </a:r>
          </a:p>
          <a:p>
            <a:pPr>
              <a:spcAft>
                <a:spcPts val="359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Memory: 256-1024 MB</a:t>
            </a:r>
          </a:p>
          <a:p>
            <a:pPr>
              <a:spcAft>
                <a:spcPts val="359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Priority: 5-10 (medium)</a:t>
            </a:r>
          </a:p>
          <a:p>
            <a:pPr>
              <a:spcAft>
                <a:spcPts val="359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real: paretovariate(1.5) * 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2286000"/>
            <a:ext cx="3474720" cy="4114800"/>
          </a:xfrm>
          <a:prstGeom prst="roundRect">
            <a:avLst/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24231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8B5CF6"/>
                </a:solidFill>
                <a:latin typeface="Segoe UI"/>
              </a:defRPr>
            </a:pPr>
            <a:r>
              <a:t>BATCH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7889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94A3B8"/>
                </a:solidFill>
                <a:latin typeface="Segoe UI"/>
              </a:defRPr>
            </a:pPr>
            <a:r>
              <a:t>Compilers, Data Processing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80" y="3063240"/>
            <a:ext cx="137160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3200400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Distribution: Gaussian (mean=25, std=5)</a:t>
            </a:r>
          </a:p>
          <a:p>
            <a:pPr>
              <a:spcAft>
                <a:spcPts val="359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Burst Range: 14-30+ ms</a:t>
            </a:r>
          </a:p>
          <a:p>
            <a:pPr>
              <a:spcAft>
                <a:spcPts val="359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Memory: 1024-4096 MB</a:t>
            </a:r>
          </a:p>
          <a:p>
            <a:pPr>
              <a:spcAft>
                <a:spcPts val="359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Priority: 10-19 (low)</a:t>
            </a:r>
          </a:p>
          <a:p>
            <a:pPr>
              <a:spcAft>
                <a:spcPts val="359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real: gauss(25, 5)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54864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3B82F6"/>
                </a:solidFill>
                <a:latin typeface="Segoe UI"/>
              </a:defRPr>
            </a:pPr>
            <a:r>
              <a:t>SECTION IV-C/D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Segoe UI"/>
              </a:defRPr>
            </a:pPr>
            <a:r>
              <a:t>Predicted-SJF Scheduling &amp; Two-Tier Adaptive Fallback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94A3B8"/>
                </a:solidFill>
                <a:latin typeface="Segoe UI"/>
              </a:defRPr>
            </a:pPr>
            <a:r>
              <a:t>Bounded execution slicing with process-level and workload-level circuit breakers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5029200" cy="1828800"/>
          </a:xfrm>
          <a:prstGeom prst="roundRect">
            <a:avLst/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3B82F6"/>
                </a:solidFill>
                <a:latin typeface="Segoe UI"/>
              </a:defRPr>
            </a:pPr>
            <a:r>
              <a:t>PREDICTED-SJF DISPATCH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651760"/>
            <a:ext cx="18288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78892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Ready queue sorted by predicted burst y (not actual).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Bounded slice:  slice = min(max(1, round(y)), remaining)</a:t>
            </a:r>
          </a:p>
          <a:p>
            <a:pPr>
              <a:spcAft>
                <a:spcPts val="359"/>
              </a:spcAft>
              <a:defRPr sz="1200" b="0">
                <a:solidFill>
                  <a:srgbClr val="94A3B8"/>
                </a:solidFill>
                <a:latin typeface="Consolas"/>
              </a:defRPr>
            </a:pPr>
            <a:r>
              <a:t>Prevents unbounded execution on any single prediction.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97680"/>
            <a:ext cx="5029200" cy="2286000"/>
          </a:xfrm>
          <a:prstGeom prst="roundRect">
            <a:avLst/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389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59E0B"/>
                </a:solidFill>
                <a:latin typeface="Segoe UI"/>
              </a:defRPr>
            </a:pPr>
            <a:r>
              <a:t>TIER 1: PROCESS-LEVEL CIRCUIT BREAKER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663440"/>
            <a:ext cx="27432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8006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CBD5E1"/>
                </a:solidFill>
                <a:latin typeface="Segoe UI"/>
              </a:defRPr>
            </a:pPr>
            <a:r>
              <a:t>If a process exceeds its predicted slice without</a:t>
            </a:r>
          </a:p>
          <a:p>
            <a:pPr>
              <a:spcAft>
                <a:spcPts val="359"/>
              </a:spcAft>
              <a:defRPr sz="1200" b="0">
                <a:solidFill>
                  <a:srgbClr val="CBD5E1"/>
                </a:solidFill>
                <a:latin typeface="Segoe UI"/>
              </a:defRPr>
            </a:pPr>
            <a:r>
              <a:t>completing (actual burst &gt; predicted burst):</a:t>
            </a:r>
          </a:p>
          <a:p>
            <a:pPr>
              <a:spcAft>
                <a:spcPts val="359"/>
              </a:spcAft>
              <a:defRPr sz="1200" b="1">
                <a:solidFill>
                  <a:srgbClr val="F59E0B"/>
                </a:solidFill>
                <a:latin typeface="Segoe UI"/>
              </a:defRPr>
            </a:pPr>
            <a:r>
              <a:t>  -&gt; Process is demoted to Round Robin queue</a:t>
            </a:r>
          </a:p>
          <a:p>
            <a:pPr>
              <a:spcAft>
                <a:spcPts val="359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  -&gt; Prediction error logged for EMA tracking</a:t>
            </a:r>
          </a:p>
          <a:p>
            <a:pPr>
              <a:spcAft>
                <a:spcPts val="359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  -&gt; Prevents starvation of other ready processes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286000"/>
            <a:ext cx="5303520" cy="4297680"/>
          </a:xfrm>
          <a:prstGeom prst="roundRect">
            <a:avLst/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3774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EF4444"/>
                </a:solidFill>
                <a:latin typeface="Segoe UI"/>
              </a:defRPr>
            </a:pPr>
            <a:r>
              <a:t>TIER 2: WORKLOAD-LEVEL EMA CIRCUIT BREAKER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651760"/>
            <a:ext cx="320040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834640"/>
            <a:ext cx="4846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44"/>
              </a:spcAft>
              <a:defRPr sz="1150" b="1">
                <a:solidFill>
                  <a:srgbClr val="FFFFFF"/>
                </a:solidFill>
                <a:latin typeface="Consolas"/>
              </a:defRPr>
            </a:pPr>
            <a:r>
              <a:t>Exponential Moving Average of prediction errors:</a:t>
            </a:r>
          </a:p>
          <a:p>
            <a:pPr>
              <a:spcAft>
                <a:spcPts val="344"/>
              </a:spcAft>
              <a:defRPr sz="1150" b="0">
                <a:solidFill>
                  <a:srgbClr val="CBD5E1"/>
                </a:solidFill>
                <a:latin typeface="Consolas"/>
              </a:defRPr>
            </a:pPr>
          </a:p>
          <a:p>
            <a:pPr>
              <a:spcAft>
                <a:spcPts val="344"/>
              </a:spcAft>
              <a:defRPr sz="1150" b="0">
                <a:solidFill>
                  <a:srgbClr val="CBD5E1"/>
                </a:solidFill>
                <a:latin typeface="Consolas"/>
              </a:defRPr>
            </a:pPr>
            <a:r>
              <a:t>EMA_k = alpha * |Actual_k - Predicted_k|</a:t>
            </a:r>
          </a:p>
          <a:p>
            <a:pPr>
              <a:spcAft>
                <a:spcPts val="344"/>
              </a:spcAft>
              <a:defRPr sz="1150" b="0">
                <a:solidFill>
                  <a:srgbClr val="CBD5E1"/>
                </a:solidFill>
                <a:latin typeface="Consolas"/>
              </a:defRPr>
            </a:pPr>
            <a:r>
              <a:t>        + (1 - alpha) * EMA_{k-1}</a:t>
            </a:r>
          </a:p>
          <a:p>
            <a:pPr>
              <a:spcAft>
                <a:spcPts val="344"/>
              </a:spcAft>
              <a:defRPr sz="1150" b="0">
                <a:solidFill>
                  <a:srgbClr val="CBD5E1"/>
                </a:solidFill>
                <a:latin typeface="Consolas"/>
              </a:defRPr>
            </a:pPr>
          </a:p>
          <a:p>
            <a:pPr>
              <a:spcAft>
                <a:spcPts val="344"/>
              </a:spcAft>
              <a:defRPr sz="1150" b="1">
                <a:solidFill>
                  <a:srgbClr val="06B6D4"/>
                </a:solidFill>
                <a:latin typeface="Consolas"/>
              </a:defRPr>
            </a:pPr>
            <a:r>
              <a:t>Parameters:</a:t>
            </a:r>
          </a:p>
          <a:p>
            <a:pPr>
              <a:spcAft>
                <a:spcPts val="344"/>
              </a:spcAft>
              <a:defRPr sz="1150" b="0">
                <a:solidFill>
                  <a:srgbClr val="CBD5E1"/>
                </a:solidFill>
                <a:latin typeface="Consolas"/>
              </a:defRPr>
            </a:pPr>
            <a:r>
              <a:t>  alpha = 0.3  (smoothing factor)</a:t>
            </a:r>
          </a:p>
          <a:p>
            <a:pPr>
              <a:spcAft>
                <a:spcPts val="344"/>
              </a:spcAft>
              <a:defRPr sz="1150" b="0">
                <a:solidFill>
                  <a:srgbClr val="CBD5E1"/>
                </a:solidFill>
                <a:latin typeface="Consolas"/>
              </a:defRPr>
            </a:pPr>
            <a:r>
              <a:t>  threshold = 5.0 ticks</a:t>
            </a:r>
          </a:p>
          <a:p>
            <a:pPr>
              <a:spcAft>
                <a:spcPts val="344"/>
              </a:spcAft>
              <a:defRPr sz="1150" b="0">
                <a:solidFill>
                  <a:srgbClr val="CBD5E1"/>
                </a:solidFill>
                <a:latin typeface="Consolas"/>
              </a:defRPr>
            </a:pPr>
          </a:p>
          <a:p>
            <a:pPr>
              <a:spcAft>
                <a:spcPts val="344"/>
              </a:spcAft>
              <a:defRPr sz="1150" b="1">
                <a:solidFill>
                  <a:srgbClr val="EF4444"/>
                </a:solidFill>
                <a:latin typeface="Consolas"/>
              </a:defRPr>
            </a:pPr>
            <a:r>
              <a:t>When EMA &gt; 5.0:</a:t>
            </a:r>
          </a:p>
          <a:p>
            <a:pPr>
              <a:spcAft>
                <a:spcPts val="344"/>
              </a:spcAft>
              <a:defRPr sz="1150" b="0">
                <a:solidFill>
                  <a:srgbClr val="F59E0B"/>
                </a:solidFill>
                <a:latin typeface="Consolas"/>
              </a:defRPr>
            </a:pPr>
            <a:r>
              <a:t>  -&gt; Entire ready queue reverts to Round Robin</a:t>
            </a:r>
          </a:p>
          <a:p>
            <a:pPr>
              <a:spcAft>
                <a:spcPts val="344"/>
              </a:spcAft>
              <a:defRPr sz="1150" b="0">
                <a:solidFill>
                  <a:srgbClr val="94A3B8"/>
                </a:solidFill>
                <a:latin typeface="Consolas"/>
              </a:defRPr>
            </a:pPr>
            <a:r>
              <a:t>  -&gt; EMA resets to 0.0 to allow ML recovery</a:t>
            </a:r>
          </a:p>
          <a:p>
            <a:pPr>
              <a:spcAft>
                <a:spcPts val="344"/>
              </a:spcAft>
              <a:defRPr sz="1150" b="0">
                <a:solidFill>
                  <a:srgbClr val="94A3B8"/>
                </a:solidFill>
                <a:latin typeface="Consolas"/>
              </a:defRPr>
            </a:pPr>
            <a:r>
              <a:t>  -&gt; Inspired by Mixture-of-Schedulers [5]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54864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3B82F6"/>
                </a:solidFill>
                <a:latin typeface="Segoe UI"/>
              </a:defRPr>
            </a:pPr>
            <a:r>
              <a:t>SECTION IV-D.2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Segoe UI"/>
              </a:defRPr>
            </a:pPr>
            <a:r>
              <a:t>Scheduling Decision Flowchart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94A3B8"/>
                </a:solidFill>
                <a:latin typeface="Segoe UI"/>
              </a:defRPr>
            </a:pPr>
            <a:r>
              <a:t>Complete execution flow from process submission to fallback resolution</a:t>
            </a:r>
          </a:p>
        </p:txBody>
      </p:sp>
      <p:pic>
        <p:nvPicPr>
          <p:cNvPr id="6" name="Picture 5" descr="scheduling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2011680"/>
            <a:ext cx="6400800" cy="783918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28600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1">
                <a:solidFill>
                  <a:srgbClr val="94A3B8"/>
                </a:solidFill>
                <a:latin typeface="Segoe UI"/>
              </a:defRPr>
            </a:pPr>
            <a:r>
              <a:t>Fig. 2.  Flowchart of ML-Augmented CPU Scheduling with Two-Tier Adaptive Fallback Mechanism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54864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3B82F6"/>
                </a:solidFill>
                <a:latin typeface="Segoe UI"/>
              </a:defRPr>
            </a:pPr>
            <a:r>
              <a:t>SECTION IV-E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Segoe UI"/>
              </a:defRPr>
            </a:pPr>
            <a:r>
              <a:t>AI Auto-Select Algorithm Recommender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94A3B8"/>
                </a:solidFill>
                <a:latin typeface="Segoe UI"/>
              </a:defRPr>
            </a:pPr>
            <a:r>
              <a:t>Meta-learning classifier for workload-aware algorithm selection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5029200" cy="4114800"/>
          </a:xfrm>
          <a:prstGeom prst="roundRect">
            <a:avLst/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3B82F6"/>
                </a:solidFill>
                <a:latin typeface="Segoe UI"/>
              </a:defRPr>
            </a:pPr>
            <a:r>
              <a:t>WORKLOAD FEATURE EXTRACTION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651760"/>
            <a:ext cx="22860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83464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1">
                <a:solidFill>
                  <a:srgbClr val="FFFFFF"/>
                </a:solidFill>
                <a:latin typeface="Consolas"/>
              </a:defRPr>
            </a:pPr>
            <a:r>
              <a:t>Feature vector X = [count, mu_burst, sigma_burst, var_arrival]</a:t>
            </a:r>
          </a:p>
          <a:p>
            <a:pPr>
              <a:spcAft>
                <a:spcPts val="359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</a:p>
          <a:p>
            <a:pPr>
              <a:spcAft>
                <a:spcPts val="359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count:       Total processes in ready queue</a:t>
            </a:r>
          </a:p>
          <a:p>
            <a:pPr>
              <a:spcAft>
                <a:spcPts val="359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mu_burst:    Mean CPU burst duration</a:t>
            </a:r>
          </a:p>
          <a:p>
            <a:pPr>
              <a:spcAft>
                <a:spcPts val="359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sigma_burst: Standard deviation of bursts</a:t>
            </a:r>
          </a:p>
          <a:p>
            <a:pPr>
              <a:spcAft>
                <a:spcPts val="359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var_arrival: Variance in arrival times</a:t>
            </a:r>
          </a:p>
          <a:p>
            <a:pPr>
              <a:spcAft>
                <a:spcPts val="359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</a:p>
          <a:p>
            <a:pPr>
              <a:spcAft>
                <a:spcPts val="359"/>
              </a:spcAft>
              <a:defRPr sz="1200" b="1">
                <a:solidFill>
                  <a:srgbClr val="06B6D4"/>
                </a:solidFill>
                <a:latin typeface="Consolas"/>
              </a:defRPr>
            </a:pPr>
            <a:r>
              <a:t>Model: DecisionTreeClassifier</a:t>
            </a:r>
          </a:p>
          <a:p>
            <a:pPr>
              <a:spcAft>
                <a:spcPts val="359"/>
              </a:spcAft>
              <a:defRPr sz="1200" b="0">
                <a:solidFill>
                  <a:srgbClr val="94A3B8"/>
                </a:solidFill>
                <a:latin typeface="Consolas"/>
              </a:defRPr>
            </a:pPr>
            <a:r>
              <a:t>Maps workload statistics -&gt; optimal algorithm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286000"/>
            <a:ext cx="5303520" cy="4114800"/>
          </a:xfrm>
          <a:prstGeom prst="roundRect">
            <a:avLst/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0B981"/>
                </a:solidFill>
                <a:latin typeface="Segoe UI"/>
              </a:defRPr>
            </a:pPr>
            <a:r>
              <a:t>CLASSIFICATION RULES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2651760"/>
            <a:ext cx="164592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88036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BD5E1"/>
                </a:solidFill>
                <a:latin typeface="Segoe UI"/>
              </a:defRPr>
            </a:pPr>
            <a:r>
              <a:t>High burst variance (sigma high)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1089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3B82F6"/>
                </a:solidFill>
                <a:latin typeface="Consolas"/>
              </a:defRPr>
            </a:pPr>
            <a:r>
              <a:t>  -&gt; SJF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31089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94A3B8"/>
                </a:solidFill>
                <a:latin typeface="Segoe UI"/>
              </a:defRPr>
            </a:pPr>
            <a:r>
              <a:t>Convoy effect prevention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65760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BD5E1"/>
                </a:solidFill>
                <a:latin typeface="Segoe UI"/>
              </a:defRPr>
            </a:pPr>
            <a:r>
              <a:t>Low variance, high count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8862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3B82F6"/>
                </a:solidFill>
                <a:latin typeface="Consolas"/>
              </a:defRPr>
            </a:pPr>
            <a:r>
              <a:t>  -&gt; Round Robin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38862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94A3B8"/>
                </a:solidFill>
                <a:latin typeface="Segoe UI"/>
              </a:defRPr>
            </a:pPr>
            <a:r>
              <a:t>Fair time-slicing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43484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BD5E1"/>
                </a:solidFill>
                <a:latin typeface="Segoe UI"/>
              </a:defRPr>
            </a:pPr>
            <a:r>
              <a:t>Short uniform bursts at t=0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6634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3B82F6"/>
                </a:solidFill>
                <a:latin typeface="Consolas"/>
              </a:defRPr>
            </a:pPr>
            <a:r>
              <a:t>  -&gt; FCFS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46634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94A3B8"/>
                </a:solidFill>
                <a:latin typeface="Segoe UI"/>
              </a:defRPr>
            </a:pPr>
            <a:r>
              <a:t>Minimal queueing overhead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5212079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BD5E1"/>
                </a:solidFill>
                <a:latin typeface="Segoe UI"/>
              </a:defRPr>
            </a:pPr>
            <a:r>
              <a:t>Mixed arrival, staggered priority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5440679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3B82F6"/>
                </a:solidFill>
                <a:latin typeface="Consolas"/>
              </a:defRPr>
            </a:pPr>
            <a:r>
              <a:t>  -&gt; Priority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544067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94A3B8"/>
                </a:solidFill>
                <a:latin typeface="Segoe UI"/>
              </a:defRPr>
            </a:pPr>
            <a:r>
              <a:t>Urgency-based allocation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54864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3B82F6"/>
                </a:solidFill>
                <a:latin typeface="Segoe UI"/>
              </a:defRPr>
            </a:pPr>
            <a:r>
              <a:t>SECTION IV-F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Segoe UI"/>
              </a:defRPr>
            </a:pPr>
            <a:r>
              <a:t>Deadlock Avoidance: Banker's Algorithm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94A3B8"/>
                </a:solidFill>
                <a:latin typeface="Segoe UI"/>
              </a:defRPr>
            </a:pPr>
            <a:r>
              <a:t>Deterministic safety verification -- ML deliberately excluded from safety-critical path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5029200" cy="4114800"/>
          </a:xfrm>
          <a:prstGeom prst="roundRect">
            <a:avLst/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3B82F6"/>
                </a:solidFill>
                <a:latin typeface="Segoe UI"/>
              </a:defRPr>
            </a:pPr>
            <a:r>
              <a:t>BANKER'S ALGORITHM (DIJKSTRA)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651760"/>
            <a:ext cx="22860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83464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1">
                <a:solidFill>
                  <a:srgbClr val="FFFFFF"/>
                </a:solidFill>
                <a:latin typeface="Consolas"/>
              </a:defRPr>
            </a:pPr>
            <a:r>
              <a:t>Need[i][j] = Max[i][j] - Allocation[i][j]</a:t>
            </a:r>
          </a:p>
          <a:p>
            <a:pPr>
              <a:spcAft>
                <a:spcPts val="359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</a:p>
          <a:p>
            <a:pPr>
              <a:spcAft>
                <a:spcPts val="359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For each unfinished process:</a:t>
            </a:r>
          </a:p>
          <a:p>
            <a:pPr>
              <a:spcAft>
                <a:spcPts val="359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Check: Need[i] &lt;= Work</a:t>
            </a:r>
          </a:p>
          <a:p>
            <a:pPr>
              <a:spcAft>
                <a:spcPts val="359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If true:  Work += Allocation[i]</a:t>
            </a:r>
          </a:p>
          <a:p>
            <a:pPr>
              <a:spcAft>
                <a:spcPts val="359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Mark process as finished</a:t>
            </a:r>
          </a:p>
          <a:p>
            <a:pPr>
              <a:spcAft>
                <a:spcPts val="359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</a:p>
          <a:p>
            <a:pPr>
              <a:spcAft>
                <a:spcPts val="359"/>
              </a:spcAft>
              <a:defRPr sz="1200" b="1">
                <a:solidFill>
                  <a:srgbClr val="10B981"/>
                </a:solidFill>
                <a:latin typeface="Consolas"/>
              </a:defRPr>
            </a:pPr>
            <a:r>
              <a:t>If all processes finish -&gt; SAFE STATE</a:t>
            </a:r>
          </a:p>
          <a:p>
            <a:pPr>
              <a:spcAft>
                <a:spcPts val="359"/>
              </a:spcAft>
              <a:defRPr sz="1200" b="1">
                <a:solidFill>
                  <a:srgbClr val="EF4444"/>
                </a:solidFill>
                <a:latin typeface="Consolas"/>
              </a:defRPr>
            </a:pPr>
            <a:r>
              <a:t>If stuck -&gt; UNSAFE STATE (deadlock risk)</a:t>
            </a:r>
          </a:p>
          <a:p>
            <a:pPr>
              <a:spcAft>
                <a:spcPts val="359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</a:p>
          <a:p>
            <a:pPr>
              <a:spcAft>
                <a:spcPts val="359"/>
              </a:spcAft>
              <a:defRPr sz="1200" b="1">
                <a:solidFill>
                  <a:srgbClr val="F59E0B"/>
                </a:solidFill>
                <a:latin typeface="Consolas"/>
              </a:defRPr>
            </a:pPr>
            <a:r>
              <a:t>Why no ML here?</a:t>
            </a:r>
          </a:p>
          <a:p>
            <a:pPr>
              <a:spcAft>
                <a:spcPts val="359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False-negative = missed deadlock path</a:t>
            </a:r>
          </a:p>
          <a:p>
            <a:pPr>
              <a:spcAft>
                <a:spcPts val="359"/>
              </a:spcAft>
              <a:defRPr sz="1200" b="0">
                <a:solidFill>
                  <a:srgbClr val="94A3B8"/>
                </a:solidFill>
                <a:latin typeface="Consolas"/>
              </a:defRPr>
            </a:pPr>
            <a:r>
              <a:t>Cost of error &gt;&gt; any throughput gain [11]</a:t>
            </a:r>
          </a:p>
        </p:txBody>
      </p:sp>
      <p:pic>
        <p:nvPicPr>
          <p:cNvPr id="10" name="Picture 9" descr="screenshot_dead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286000"/>
            <a:ext cx="5303520" cy="251641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17920" y="61264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1">
                <a:solidFill>
                  <a:srgbClr val="94A3B8"/>
                </a:solidFill>
                <a:latin typeface="Segoe UI"/>
              </a:defRPr>
            </a:pPr>
            <a:r>
              <a:t>Fig. 3.  Banker's Algorithm interface with safe sequence verification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54864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3B82F6"/>
                </a:solidFill>
                <a:latin typeface="Segoe UI"/>
              </a:defRPr>
            </a:pPr>
            <a:r>
              <a:t>SECTION IV-G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Segoe UI"/>
              </a:defRPr>
            </a:pPr>
            <a:r>
              <a:t>Disk Scheduling Subsystem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94A3B8"/>
                </a:solidFill>
                <a:latin typeface="Segoe UI"/>
              </a:defRPr>
            </a:pPr>
            <a:r>
              <a:t>Classical seek-distance algorithms with ML extension identified for future work [12]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2560320" cy="3200400"/>
          </a:xfrm>
          <a:prstGeom prst="roundRect">
            <a:avLst/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94A3B8"/>
                </a:solidFill>
                <a:latin typeface="Segoe UI"/>
              </a:defRPr>
            </a:pPr>
            <a:r>
              <a:t>FCFS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43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94A3B8"/>
                </a:solidFill>
                <a:latin typeface="Segoe UI"/>
              </a:defRPr>
            </a:pPr>
            <a:r>
              <a:t>Arrival Order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017520"/>
            <a:ext cx="914400" cy="381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15468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BD5E1"/>
                </a:solidFill>
                <a:latin typeface="Segoe UI"/>
              </a:defRPr>
            </a:pPr>
            <a:r>
              <a:t>Serves requests in order of arrival.</a:t>
            </a:r>
            <a:br/>
            <a:r>
              <a:t>Simple but produces inefficient head movement.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2286000"/>
            <a:ext cx="2560320" cy="3200400"/>
          </a:xfrm>
          <a:prstGeom prst="roundRect">
            <a:avLst/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0B981"/>
                </a:solidFill>
                <a:latin typeface="Segoe UI"/>
              </a:defRPr>
            </a:pPr>
            <a:r>
              <a:t>SSTF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743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94A3B8"/>
                </a:solidFill>
                <a:latin typeface="Segoe UI"/>
              </a:defRPr>
            </a:pPr>
            <a:r>
              <a:t>Shortest Seek Time First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03320" y="3017520"/>
            <a:ext cx="9144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3320" y="315468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BD5E1"/>
                </a:solidFill>
                <a:latin typeface="Segoe UI"/>
              </a:defRPr>
            </a:pPr>
            <a:r>
              <a:t>Serves nearest request first.</a:t>
            </a:r>
            <a:br/>
            <a:r>
              <a:t>Reduces seek time but risks starvation of distant requests.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286000"/>
            <a:ext cx="2560320" cy="3200400"/>
          </a:xfrm>
          <a:prstGeom prst="roundRect">
            <a:avLst/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3B82F6"/>
                </a:solidFill>
                <a:latin typeface="Segoe UI"/>
              </a:defRPr>
            </a:pPr>
            <a:r>
              <a:t>SCAN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743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94A3B8"/>
                </a:solidFill>
                <a:latin typeface="Segoe UI"/>
              </a:defRPr>
            </a:pPr>
            <a:r>
              <a:t>Elevator Algorithm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37960" y="3017520"/>
            <a:ext cx="9144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15468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BD5E1"/>
                </a:solidFill>
                <a:latin typeface="Segoe UI"/>
              </a:defRPr>
            </a:pPr>
            <a:r>
              <a:t>Head sweeps in one direction servicing requests, then reverses.</a:t>
            </a:r>
            <a:br/>
            <a:r>
              <a:t>Balances seek time with fairness.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35440" y="2286000"/>
            <a:ext cx="2560320" cy="3200400"/>
          </a:xfrm>
          <a:prstGeom prst="roundRect">
            <a:avLst/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726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8B5CF6"/>
                </a:solidFill>
                <a:latin typeface="Segoe UI"/>
              </a:defRPr>
            </a:pPr>
            <a:r>
              <a:t>C-SCAN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2743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94A3B8"/>
                </a:solidFill>
                <a:latin typeface="Segoe UI"/>
              </a:defRPr>
            </a:pPr>
            <a:r>
              <a:t>Circular SCAN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72600" y="3017520"/>
            <a:ext cx="91440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72600" y="315468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BD5E1"/>
                </a:solidFill>
                <a:latin typeface="Segoe UI"/>
              </a:defRPr>
            </a:pPr>
            <a:r>
              <a:t>Like SCAN but returns to start without servicing on return.</a:t>
            </a:r>
            <a:br/>
            <a:r>
              <a:t>Provides more uniform wait times.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760720"/>
            <a:ext cx="10698480" cy="914400"/>
          </a:xfrm>
          <a:prstGeom prst="roundRect">
            <a:avLst/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852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29"/>
              </a:spcAft>
              <a:defRPr sz="1100" b="1">
                <a:solidFill>
                  <a:srgbClr val="CBD5E1"/>
                </a:solidFill>
                <a:latin typeface="Segoe UI"/>
              </a:defRPr>
            </a:pPr>
            <a:r>
              <a:t>Metrics:  Total Seek Distance  |  Service Sequence  |  Average Seek Time per Request</a:t>
            </a:r>
          </a:p>
          <a:p>
            <a:pPr>
              <a:spcAft>
                <a:spcPts val="329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Future Work: Predict-then-shortest-first I/O scheduling, structurally analogous to CPU approach [12]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54864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3B82F6"/>
                </a:solidFill>
                <a:latin typeface="Segoe UI"/>
              </a:defRPr>
            </a:pPr>
            <a:r>
              <a:t>SECTION 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Segoe UI"/>
              </a:defRPr>
            </a:pPr>
            <a:r>
              <a:t>Experimental Setup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10698480" cy="4114800"/>
          </a:xfrm>
          <a:prstGeom prst="roundRect">
            <a:avLst/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9601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44"/>
              </a:spcAft>
              <a:defRPr sz="1150" b="1">
                <a:solidFill>
                  <a:srgbClr val="3B82F6"/>
                </a:solidFill>
                <a:latin typeface="Consolas"/>
              </a:defRPr>
            </a:pPr>
            <a:r>
              <a:t>Training Dataset</a:t>
            </a:r>
          </a:p>
          <a:p>
            <a:pPr>
              <a:spcAft>
                <a:spcPts val="344"/>
              </a:spcAft>
              <a:defRPr sz="1150" b="0">
                <a:solidFill>
                  <a:srgbClr val="CBD5E1"/>
                </a:solidFill>
                <a:latin typeface="Consolas"/>
              </a:defRPr>
            </a:pPr>
            <a:r>
              <a:t>  2,000 synthetically generated process records from a mixture of distributions:</a:t>
            </a:r>
          </a:p>
          <a:p>
            <a:pPr>
              <a:spcAft>
                <a:spcPts val="344"/>
              </a:spcAft>
              <a:defRPr sz="1150" b="0">
                <a:solidFill>
                  <a:srgbClr val="CBD5E1"/>
                </a:solidFill>
                <a:latin typeface="Consolas"/>
              </a:defRPr>
            </a:pPr>
            <a:r>
              <a:t>    Interactive: Exponential (mean=3)  |  Batch: Gaussian (mean=25, std=5)  |  Bursty: Pareto (alpha=1.5)</a:t>
            </a:r>
          </a:p>
          <a:p>
            <a:pPr>
              <a:spcAft>
                <a:spcPts val="344"/>
              </a:spcAft>
              <a:defRPr sz="1150" b="0">
                <a:solidFill>
                  <a:srgbClr val="94A3B8"/>
                </a:solidFill>
                <a:latin typeface="Consolas"/>
              </a:defRPr>
            </a:pPr>
            <a:r>
              <a:t>  Fixed random seed (42) for reproducibility.</a:t>
            </a:r>
          </a:p>
          <a:p>
            <a:pPr>
              <a:spcAft>
                <a:spcPts val="344"/>
              </a:spcAft>
              <a:defRPr sz="1150" b="0">
                <a:solidFill>
                  <a:srgbClr val="CBD5E1"/>
                </a:solidFill>
                <a:latin typeface="Consolas"/>
              </a:defRPr>
            </a:pPr>
          </a:p>
          <a:p>
            <a:pPr>
              <a:spcAft>
                <a:spcPts val="344"/>
              </a:spcAft>
              <a:defRPr sz="1150" b="1">
                <a:solidFill>
                  <a:srgbClr val="3B82F6"/>
                </a:solidFill>
                <a:latin typeface="Consolas"/>
              </a:defRPr>
            </a:pPr>
            <a:r>
              <a:t>Test Dataset</a:t>
            </a:r>
          </a:p>
          <a:p>
            <a:pPr>
              <a:spcAft>
                <a:spcPts val="344"/>
              </a:spcAft>
              <a:defRPr sz="1150" b="0">
                <a:solidFill>
                  <a:srgbClr val="CBD5E1"/>
                </a:solidFill>
                <a:latin typeface="Consolas"/>
              </a:defRPr>
            </a:pPr>
            <a:r>
              <a:t>  500 records from subsequent block of the same generator stream.</a:t>
            </a:r>
          </a:p>
          <a:p>
            <a:pPr>
              <a:spcAft>
                <a:spcPts val="344"/>
              </a:spcAft>
              <a:defRPr sz="1150" b="0">
                <a:solidFill>
                  <a:srgbClr val="CBD5E1"/>
                </a:solidFill>
                <a:latin typeface="Consolas"/>
              </a:defRPr>
            </a:pPr>
            <a:r>
              <a:t>  Deliberately injected burst anomaly to probe fallback resilience.</a:t>
            </a:r>
          </a:p>
          <a:p>
            <a:pPr>
              <a:spcAft>
                <a:spcPts val="344"/>
              </a:spcAft>
              <a:defRPr sz="1150" b="0">
                <a:solidFill>
                  <a:srgbClr val="94A3B8"/>
                </a:solidFill>
                <a:latin typeface="Consolas"/>
              </a:defRPr>
            </a:pPr>
            <a:r>
              <a:t>  Strictly sequentially partitioned (no data leakage).</a:t>
            </a:r>
          </a:p>
          <a:p>
            <a:pPr>
              <a:spcAft>
                <a:spcPts val="344"/>
              </a:spcAft>
              <a:defRPr sz="1150" b="0">
                <a:solidFill>
                  <a:srgbClr val="CBD5E1"/>
                </a:solidFill>
                <a:latin typeface="Consolas"/>
              </a:defRPr>
            </a:pPr>
          </a:p>
          <a:p>
            <a:pPr>
              <a:spcAft>
                <a:spcPts val="344"/>
              </a:spcAft>
              <a:defRPr sz="1150" b="1">
                <a:solidFill>
                  <a:srgbClr val="3B82F6"/>
                </a:solidFill>
                <a:latin typeface="Consolas"/>
              </a:defRPr>
            </a:pPr>
            <a:r>
              <a:t>Scheduling Benchmarks</a:t>
            </a:r>
          </a:p>
          <a:p>
            <a:pPr>
              <a:spcAft>
                <a:spcPts val="344"/>
              </a:spcAft>
              <a:defRPr sz="1150" b="0">
                <a:solidFill>
                  <a:srgbClr val="CBD5E1"/>
                </a:solidFill>
                <a:latin typeface="Consolas"/>
              </a:defRPr>
            </a:pPr>
            <a:r>
              <a:t>  All scheduling comparisons conducted on identical process streams.</a:t>
            </a:r>
          </a:p>
          <a:p>
            <a:pPr>
              <a:spcAft>
                <a:spcPts val="344"/>
              </a:spcAft>
              <a:defRPr sz="1150" b="0">
                <a:solidFill>
                  <a:srgbClr val="CBD5E1"/>
                </a:solidFill>
                <a:latin typeface="Consolas"/>
              </a:defRPr>
            </a:pPr>
            <a:r>
              <a:t>  Five policies under test: FCFS, Round Robin (q=2), Predicted-SJF, Oracle SJF, Oracle SRTF.</a:t>
            </a:r>
          </a:p>
          <a:p>
            <a:pPr>
              <a:spcAft>
                <a:spcPts val="344"/>
              </a:spcAft>
              <a:defRPr sz="1150" b="0">
                <a:solidFill>
                  <a:srgbClr val="CBD5E1"/>
                </a:solidFill>
                <a:latin typeface="Consolas"/>
              </a:defRPr>
            </a:pPr>
          </a:p>
          <a:p>
            <a:pPr>
              <a:spcAft>
                <a:spcPts val="344"/>
              </a:spcAft>
              <a:defRPr sz="1150" b="1">
                <a:solidFill>
                  <a:srgbClr val="3B82F6"/>
                </a:solidFill>
                <a:latin typeface="Consolas"/>
              </a:defRPr>
            </a:pPr>
            <a:r>
              <a:t>Automated Testing</a:t>
            </a:r>
          </a:p>
          <a:p>
            <a:pPr>
              <a:spcAft>
                <a:spcPts val="344"/>
              </a:spcAft>
              <a:defRPr sz="1150" b="0">
                <a:solidFill>
                  <a:srgbClr val="CBD5E1"/>
                </a:solidFill>
                <a:latin typeface="Consolas"/>
              </a:defRPr>
            </a:pPr>
            <a:r>
              <a:t>  11-unit test suite: 3 deadlock (safe/unsafe/boundary) + 4 disk (FCFS/SSTF/SCAN/C-SCAN) + 4 CPU/ML.</a:t>
            </a:r>
          </a:p>
          <a:p>
            <a:pPr>
              <a:spcAft>
                <a:spcPts val="344"/>
              </a:spcAft>
              <a:defRPr sz="1150" b="0">
                <a:solidFill>
                  <a:srgbClr val="10B981"/>
                </a:solidFill>
                <a:latin typeface="Consolas"/>
              </a:defRPr>
            </a:pPr>
            <a:r>
              <a:t>  All 11 tests passing.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54864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3B82F6"/>
                </a:solidFill>
                <a:latin typeface="Segoe UI"/>
              </a:defRPr>
            </a:pPr>
            <a:r>
              <a:t>SECTION VI-A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Segoe UI"/>
              </a:defRPr>
            </a:pPr>
            <a:r>
              <a:t>Results: ML Model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94A3B8"/>
                </a:solidFill>
                <a:latin typeface="Segoe UI"/>
              </a:defRPr>
            </a:pPr>
            <a:r>
              <a:t>Burst-time prediction accuracy on held-out 500-record test set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2011680" cy="2286000"/>
          </a:xfrm>
          <a:prstGeom prst="roundRect">
            <a:avLst/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4231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94A3B8"/>
                </a:solidFill>
                <a:latin typeface="Segoe UI"/>
              </a:defRPr>
            </a:pPr>
            <a:r>
              <a:t>MAE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432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0B981"/>
                </a:solidFill>
                <a:latin typeface="Consolas"/>
              </a:defRPr>
            </a:pPr>
            <a:r>
              <a:t>1.19 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94A3B8"/>
                </a:solidFill>
                <a:latin typeface="Segoe UI"/>
              </a:defRPr>
            </a:pPr>
            <a:r>
              <a:t>Mean Absolute Error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71800" y="2286000"/>
            <a:ext cx="2011680" cy="2286000"/>
          </a:xfrm>
          <a:prstGeom prst="roundRect">
            <a:avLst/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08960" y="24231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94A3B8"/>
                </a:solidFill>
                <a:latin typeface="Segoe UI"/>
              </a:defRPr>
            </a:pPr>
            <a:r>
              <a:t>RMSE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7432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3B82F6"/>
                </a:solidFill>
                <a:latin typeface="Consolas"/>
              </a:defRPr>
            </a:pPr>
            <a:r>
              <a:t>2.21 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34290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94A3B8"/>
                </a:solidFill>
                <a:latin typeface="Segoe UI"/>
              </a:defRPr>
            </a:pPr>
            <a:r>
              <a:t>Root Mean Squared Error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12080" y="2286000"/>
            <a:ext cx="2011680" cy="2286000"/>
          </a:xfrm>
          <a:prstGeom prst="roundRect">
            <a:avLst/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49240" y="24231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94A3B8"/>
                </a:solidFill>
                <a:latin typeface="Segoe UI"/>
              </a:defRPr>
            </a:pPr>
            <a:r>
              <a:t>R-squared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27432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8B5CF6"/>
                </a:solidFill>
                <a:latin typeface="Consolas"/>
              </a:defRPr>
            </a:pPr>
            <a:r>
              <a:t>0.9564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34290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94A3B8"/>
                </a:solidFill>
                <a:latin typeface="Segoe UI"/>
              </a:defRPr>
            </a:pPr>
            <a:r>
              <a:t>Coefficient of Determination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0" y="2286000"/>
            <a:ext cx="2011680" cy="2286000"/>
          </a:xfrm>
          <a:prstGeom prst="roundRect">
            <a:avLst/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0" y="24231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94A3B8"/>
                </a:solidFill>
                <a:latin typeface="Segoe UI"/>
              </a:defRPr>
            </a:pPr>
            <a:r>
              <a:t>Tree Inference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27432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06B6D4"/>
                </a:solidFill>
                <a:latin typeface="Consolas"/>
              </a:defRPr>
            </a:pPr>
            <a:r>
              <a:t>5.80 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34290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94A3B8"/>
                </a:solidFill>
                <a:latin typeface="Segoe UI"/>
              </a:defRPr>
            </a:pPr>
            <a:r>
              <a:t>Raw decision traversal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92640" y="2286000"/>
            <a:ext cx="2011680" cy="2286000"/>
          </a:xfrm>
          <a:prstGeom prst="roundRect">
            <a:avLst/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29800" y="24231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94A3B8"/>
                </a:solidFill>
                <a:latin typeface="Segoe UI"/>
              </a:defRPr>
            </a:pPr>
            <a:r>
              <a:t>Pipeline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9800" y="27432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F59E0B"/>
                </a:solidFill>
                <a:latin typeface="Consolas"/>
              </a:defRPr>
            </a:pPr>
            <a:r>
              <a:t>33.6 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9800" y="34290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94A3B8"/>
                </a:solidFill>
                <a:latin typeface="Segoe UI"/>
              </a:defRPr>
            </a:pPr>
            <a:r>
              <a:t>End-to-end serving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846320"/>
            <a:ext cx="10698480" cy="1645920"/>
          </a:xfrm>
          <a:prstGeom prst="roundRect">
            <a:avLst/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937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3B82F6"/>
                </a:solidFill>
                <a:latin typeface="Segoe UI"/>
              </a:defRPr>
            </a:pPr>
            <a:r>
              <a:t>FEATURE IMPORTANCE (Gini)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3035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CBD5E1"/>
                </a:solidFill>
                <a:latin typeface="Consolas"/>
              </a:defRPr>
            </a:pPr>
            <a:r>
              <a:t>requested_memory_mb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74720" y="5328920"/>
            <a:ext cx="5063398" cy="164592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29558" y="53035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Consolas"/>
              </a:defRPr>
            </a:pPr>
            <a:r>
              <a:t>92.29%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55955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CBD5E1"/>
                </a:solidFill>
                <a:latin typeface="Consolas"/>
              </a:defRPr>
            </a:pPr>
            <a:r>
              <a:t>past_burst_1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74720" y="5584952"/>
            <a:ext cx="401604" cy="164592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67764" y="55595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Consolas"/>
              </a:defRPr>
            </a:pPr>
            <a:r>
              <a:t>7.32%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815584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CBD5E1"/>
                </a:solidFill>
                <a:latin typeface="Consolas"/>
              </a:defRPr>
            </a:pPr>
            <a:r>
              <a:t>historical_burst_avg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74720" y="5840984"/>
            <a:ext cx="274320" cy="164592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40480" y="581558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Consolas"/>
              </a:defRPr>
            </a:pPr>
            <a:r>
              <a:t>0.26%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607161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CBD5E1"/>
                </a:solidFill>
                <a:latin typeface="Consolas"/>
              </a:defRPr>
            </a:pPr>
            <a:r>
              <a:t>static_priority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474720" y="6097016"/>
            <a:ext cx="274320" cy="164592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40480" y="607161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Consolas"/>
              </a:defRPr>
            </a:pPr>
            <a:r>
              <a:t>0.07%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632764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CBD5E1"/>
                </a:solidFill>
                <a:latin typeface="Consolas"/>
              </a:defRPr>
            </a:pPr>
            <a:r>
              <a:t>other features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74720" y="6353048"/>
            <a:ext cx="274320" cy="164592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840480" y="632764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Consolas"/>
              </a:defRPr>
            </a:pPr>
            <a:r>
              <a:t>0.06%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54864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3B82F6"/>
                </a:solidFill>
                <a:latin typeface="Segoe UI"/>
              </a:defRPr>
            </a:pPr>
            <a:r>
              <a:t>SECTION VI-B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Segoe UI"/>
              </a:defRPr>
            </a:pPr>
            <a:r>
              <a:t>Results: Comparative Scheduling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94A3B8"/>
                </a:solidFill>
                <a:latin typeface="Segoe UI"/>
              </a:defRPr>
            </a:pPr>
            <a:r>
              <a:t>Default 5-process batch benchmark: Waiting Time and Turnaround Time comparison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286000"/>
            <a:ext cx="9418320" cy="45720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230428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  <a:latin typeface="Segoe UI"/>
              </a:defRPr>
            </a:pPr>
            <a:r>
              <a:t>Scheduling Policy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30428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  <a:latin typeface="Segoe UI"/>
              </a:defRPr>
            </a:pPr>
            <a:r>
              <a:t>Avg WT (ms)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30428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  <a:latin typeface="Segoe UI"/>
              </a:defRPr>
            </a:pPr>
            <a:r>
              <a:t>Avg TAT (ms)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230428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  <a:latin typeface="Segoe UI"/>
              </a:defRPr>
            </a:pPr>
            <a:r>
              <a:t>vs FCFS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2834640"/>
            <a:ext cx="9418320" cy="502920"/>
          </a:xfrm>
          <a:prstGeom prst="roundRect">
            <a:avLst/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28600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  <a:latin typeface="Segoe UI"/>
              </a:defRPr>
            </a:pPr>
            <a:r>
              <a:t>FCFS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86004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94A3B8"/>
                </a:solidFill>
                <a:latin typeface="Consolas"/>
              </a:defRPr>
            </a:pPr>
            <a:r>
              <a:t>9.0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86004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94A3B8"/>
                </a:solidFill>
                <a:latin typeface="Consolas"/>
              </a:defRPr>
            </a:pPr>
            <a:r>
              <a:t>14.2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28600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94A3B8"/>
                </a:solidFill>
                <a:latin typeface="Segoe UI"/>
              </a:defRPr>
            </a:pPr>
            <a:r>
              <a:t>Baseline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0" y="3429000"/>
            <a:ext cx="9418320" cy="502920"/>
          </a:xfrm>
          <a:prstGeom prst="roundRect">
            <a:avLst/>
          </a:prstGeom>
          <a:solidFill>
            <a:srgbClr val="1A25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54480" y="34544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  <a:latin typeface="Segoe UI"/>
              </a:defRPr>
            </a:pPr>
            <a:r>
              <a:t>Round Robin (q=2)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34544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EF4444"/>
                </a:solidFill>
                <a:latin typeface="Consolas"/>
              </a:defRPr>
            </a:pPr>
            <a:r>
              <a:t>13.0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34544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EF4444"/>
                </a:solidFill>
                <a:latin typeface="Consolas"/>
              </a:defRPr>
            </a:pPr>
            <a:r>
              <a:t>18.2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34544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EF4444"/>
                </a:solidFill>
                <a:latin typeface="Segoe UI"/>
              </a:defRPr>
            </a:pPr>
            <a:r>
              <a:t>+44.4%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71600" y="4023360"/>
            <a:ext cx="9418320" cy="502920"/>
          </a:xfrm>
          <a:prstGeom prst="roundRect">
            <a:avLst/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54480" y="40487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Segoe UI"/>
              </a:defRPr>
            </a:pPr>
            <a:r>
              <a:t>Predicted-SJF (ML)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40487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0B981"/>
                </a:solidFill>
                <a:latin typeface="Consolas"/>
              </a:defRPr>
            </a:pPr>
            <a:r>
              <a:t>7.2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40487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0B981"/>
                </a:solidFill>
                <a:latin typeface="Consolas"/>
              </a:defRPr>
            </a:pPr>
            <a:r>
              <a:t>12.4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40487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10B981"/>
                </a:solidFill>
                <a:latin typeface="Segoe UI"/>
              </a:defRPr>
            </a:pPr>
            <a:r>
              <a:t>-20.0%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71600" y="4617720"/>
            <a:ext cx="9418320" cy="502920"/>
          </a:xfrm>
          <a:prstGeom prst="roundRect">
            <a:avLst/>
          </a:prstGeom>
          <a:solidFill>
            <a:srgbClr val="1A25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54480" y="46431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  <a:latin typeface="Segoe UI"/>
              </a:defRPr>
            </a:pPr>
            <a:r>
              <a:t>Oracle SJF (Ideal)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46431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6B6D4"/>
                </a:solidFill>
                <a:latin typeface="Consolas"/>
              </a:defRPr>
            </a:pPr>
            <a:r>
              <a:t>7.2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46431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6B6D4"/>
                </a:solidFill>
                <a:latin typeface="Consolas"/>
              </a:defRPr>
            </a:pPr>
            <a:r>
              <a:t>12.4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46431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06B6D4"/>
                </a:solidFill>
                <a:latin typeface="Segoe UI"/>
              </a:defRPr>
            </a:pPr>
            <a:r>
              <a:t>Theoretical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371600" y="5212080"/>
            <a:ext cx="9418320" cy="502920"/>
          </a:xfrm>
          <a:prstGeom prst="roundRect">
            <a:avLst/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554480" y="52374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  <a:latin typeface="Segoe UI"/>
              </a:defRPr>
            </a:pPr>
            <a:r>
              <a:t>Oracle SRTF (Ideal)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52374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6B6D4"/>
                </a:solidFill>
                <a:latin typeface="Consolas"/>
              </a:defRPr>
            </a:pPr>
            <a:r>
              <a:t>6.8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52374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6B6D4"/>
                </a:solidFill>
                <a:latin typeface="Consolas"/>
              </a:defRPr>
            </a:pPr>
            <a:r>
              <a:t>12.0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52374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06B6D4"/>
                </a:solidFill>
                <a:latin typeface="Segoe UI"/>
              </a:defRPr>
            </a:pPr>
            <a:r>
              <a:t>Theoretical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371600" y="5943600"/>
            <a:ext cx="9418320" cy="731520"/>
          </a:xfrm>
          <a:prstGeom prst="roundRect">
            <a:avLst/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554480" y="5989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1">
                <a:solidFill>
                  <a:srgbClr val="10B981"/>
                </a:solidFill>
                <a:latin typeface="Segoe UI"/>
              </a:defRPr>
            </a:pPr>
            <a:r>
              <a:t>Predicted-SJF achieves 20-35% reduction in avg waiting time vs FCFS across tested batches.</a:t>
            </a:r>
          </a:p>
          <a:p>
            <a:pPr>
              <a:spcAft>
                <a:spcPts val="359"/>
              </a:spcAft>
              <a:defRPr sz="1200" b="0">
                <a:solidFill>
                  <a:srgbClr val="CBD5E1"/>
                </a:solidFill>
                <a:latin typeface="Segoe UI"/>
              </a:defRPr>
            </a:pPr>
            <a:r>
              <a:t>Oracle Gap: 0.0% to 3.6% -- operating within a few percent of theoretical optimum.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54864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3B82F6"/>
                </a:solidFill>
                <a:latin typeface="Segoe UI"/>
              </a:defRPr>
            </a:pPr>
            <a:r>
              <a:t>SECTION VI-C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Segoe UI"/>
              </a:defRPr>
            </a:pPr>
            <a:r>
              <a:t>Adversarial Fallback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94A3B8"/>
                </a:solidFill>
                <a:latin typeface="Segoe UI"/>
              </a:defRPr>
            </a:pPr>
            <a:r>
              <a:t>Deceptive workload testing confirms both circuit breakers activate correctly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10698480" cy="4114800"/>
          </a:xfrm>
          <a:prstGeom prst="roundRect">
            <a:avLst/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9601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1">
                <a:solidFill>
                  <a:srgbClr val="EF4444"/>
                </a:solidFill>
                <a:latin typeface="Consolas"/>
              </a:defRPr>
            </a:pPr>
            <a:r>
              <a:t>Adversarial Workload Design:</a:t>
            </a:r>
          </a:p>
          <a:p>
            <a:pPr>
              <a:spcAft>
                <a:spcPts val="359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Processes with deceptive low-burst telemetry (predicted ~2.8 ms)</a:t>
            </a:r>
          </a:p>
          <a:p>
            <a:pPr>
              <a:spcAft>
                <a:spcPts val="359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but true burst times of 18-24 ms.</a:t>
            </a:r>
          </a:p>
          <a:p>
            <a:pPr>
              <a:spcAft>
                <a:spcPts val="359"/>
              </a:spcAft>
              <a:defRPr sz="1200" b="0">
                <a:solidFill>
                  <a:srgbClr val="94A3B8"/>
                </a:solidFill>
                <a:latin typeface="Consolas"/>
              </a:defRPr>
            </a:pPr>
            <a:r>
              <a:t>  process_type='interactive', memory=128MB, past bursts all ~2.0ms</a:t>
            </a:r>
          </a:p>
          <a:p>
            <a:pPr>
              <a:spcAft>
                <a:spcPts val="359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</a:p>
          <a:p>
            <a:pPr>
              <a:spcAft>
                <a:spcPts val="359"/>
              </a:spcAft>
              <a:defRPr sz="1200" b="1">
                <a:solidFill>
                  <a:srgbClr val="F59E0B"/>
                </a:solidFill>
                <a:latin typeface="Consolas"/>
              </a:defRPr>
            </a:pPr>
            <a:r>
              <a:t>Tier 1 Activation:</a:t>
            </a:r>
          </a:p>
          <a:p>
            <a:pPr>
              <a:spcAft>
                <a:spcPts val="359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Deceptive process executes its predicted slice (~3 ticks).</a:t>
            </a:r>
          </a:p>
          <a:p>
            <a:pPr>
              <a:spcAft>
                <a:spcPts val="359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Process not complete -&gt; immediate demotion to RR queue.</a:t>
            </a:r>
          </a:p>
          <a:p>
            <a:pPr>
              <a:spcAft>
                <a:spcPts val="359"/>
              </a:spcAft>
              <a:defRPr sz="1200" b="0">
                <a:solidFill>
                  <a:srgbClr val="94A3B8"/>
                </a:solidFill>
                <a:latin typeface="Consolas"/>
              </a:defRPr>
            </a:pPr>
            <a:r>
              <a:t>  Logged: 'Exceeded predicted burst (3ms predicted vs 18ms actual)'</a:t>
            </a:r>
          </a:p>
          <a:p>
            <a:pPr>
              <a:spcAft>
                <a:spcPts val="359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</a:p>
          <a:p>
            <a:pPr>
              <a:spcAft>
                <a:spcPts val="359"/>
              </a:spcAft>
              <a:defRPr sz="1200" b="1">
                <a:solidFill>
                  <a:srgbClr val="EF4444"/>
                </a:solidFill>
                <a:latin typeface="Consolas"/>
              </a:defRPr>
            </a:pPr>
            <a:r>
              <a:t>Tier 2 Activation:</a:t>
            </a:r>
          </a:p>
          <a:p>
            <a:pPr>
              <a:spcAft>
                <a:spcPts val="359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Sustained errors drive EMA above 5.0-tick threshold.</a:t>
            </a:r>
          </a:p>
          <a:p>
            <a:pPr>
              <a:spcAft>
                <a:spcPts val="359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Entire ready queue reverts to Round Robin globally.</a:t>
            </a:r>
          </a:p>
          <a:p>
            <a:pPr>
              <a:spcAft>
                <a:spcPts val="359"/>
              </a:spcAft>
              <a:defRPr sz="1200" b="0">
                <a:solidFill>
                  <a:srgbClr val="10B981"/>
                </a:solidFill>
                <a:latin typeface="Consolas"/>
              </a:defRPr>
            </a:pPr>
            <a:r>
              <a:t>  Catastrophic starvation bounded in both single-process and workload-wide cases.</a:t>
            </a:r>
          </a:p>
          <a:p>
            <a:pPr>
              <a:spcAft>
                <a:spcPts val="359"/>
              </a:spcAft>
              <a:defRPr sz="1200" b="0">
                <a:solidFill>
                  <a:srgbClr val="CBD5E1"/>
                </a:solidFill>
                <a:latin typeface="Consolas"/>
              </a:defRPr>
            </a:pPr>
          </a:p>
          <a:p>
            <a:pPr>
              <a:spcAft>
                <a:spcPts val="359"/>
              </a:spcAft>
              <a:defRPr sz="1200" b="1">
                <a:solidFill>
                  <a:srgbClr val="06B6D4"/>
                </a:solidFill>
                <a:latin typeface="Consolas"/>
              </a:defRPr>
            </a:pPr>
            <a:r>
              <a:t>Validated by: test_cpu_adversarial_circuit_breaker() in test_cpu.py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54864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3B82F6"/>
                </a:solidFill>
                <a:latin typeface="Segoe UI"/>
              </a:defRPr>
            </a:pPr>
            <a:r>
              <a:t>SECTION VII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Segoe UI"/>
              </a:defRPr>
            </a:pPr>
            <a:r>
              <a:t>Interactive Dashboard &amp; Visualization</a:t>
            </a:r>
          </a:p>
        </p:txBody>
      </p:sp>
      <p:pic>
        <p:nvPicPr>
          <p:cNvPr id="5" name="Picture 4" descr="screensho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9418320" cy="52389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71600" y="6400800"/>
            <a:ext cx="9418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1">
                <a:solidFill>
                  <a:srgbClr val="94A3B8"/>
                </a:solidFill>
                <a:latin typeface="Segoe UI"/>
              </a:defRPr>
            </a:pPr>
            <a:r>
              <a:t>Fig. 4.  Executive Dashboard with unified monitoring across CPU, Deadlock, and Disk subsystems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54864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3B82F6"/>
                </a:solidFill>
                <a:latin typeface="Segoe UI"/>
              </a:defRPr>
            </a:pPr>
            <a:r>
              <a:t>SECTION VII-B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Segoe UI"/>
              </a:defRPr>
            </a:pPr>
            <a:r>
              <a:t>CPU Scheduling Interface: Predicted-SJF Execution</a:t>
            </a:r>
          </a:p>
        </p:txBody>
      </p:sp>
      <p:pic>
        <p:nvPicPr>
          <p:cNvPr id="5" name="Picture 4" descr="screenshot_cpu_schedu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9418320" cy="446879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640080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1">
                <a:solidFill>
                  <a:srgbClr val="94A3B8"/>
                </a:solidFill>
                <a:latin typeface="Segoe UI"/>
              </a:defRPr>
            </a:pPr>
            <a:r>
              <a:t>Fig. 5.  ML-Augmented CPU Scheduling: Process telemetry inputs, Gantt timeline, and performance metrics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54864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3B82F6"/>
                </a:solidFill>
                <a:latin typeface="Segoe UI"/>
              </a:defRPr>
            </a:pPr>
            <a:r>
              <a:t>SECTION VIII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Segoe UI"/>
              </a:defRPr>
            </a:pPr>
            <a:r>
              <a:t>Discussion, Scope &amp; Limitations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5029200" cy="4114800"/>
          </a:xfrm>
          <a:prstGeom prst="roundRect">
            <a:avLst/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3B82F6"/>
                </a:solidFill>
                <a:latin typeface="Segoe UI"/>
              </a:defRPr>
            </a:pPr>
            <a:r>
              <a:t>KEY DESIGN DECISIONS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651760"/>
            <a:ext cx="18288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t>Banker's Algorithm kept deterministic:</a:t>
            </a:r>
          </a:p>
          <a:p>
            <a:pPr>
              <a:spcAft>
                <a:spcPts val="359"/>
              </a:spcAft>
              <a:defRPr sz="1200" b="0">
                <a:solidFill>
                  <a:srgbClr val="CBD5E1"/>
                </a:solidFill>
                <a:latin typeface="Segoe UI"/>
              </a:defRPr>
            </a:pPr>
            <a:r>
              <a:t>  Cost of false-negative (missed deadlock) &gt;&gt;</a:t>
            </a:r>
          </a:p>
          <a:p>
            <a:pPr>
              <a:spcAft>
                <a:spcPts val="359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  any gain from ML prediction [11].</a:t>
            </a:r>
          </a:p>
          <a:p>
            <a:pPr>
              <a:spcAft>
                <a:spcPts val="359"/>
              </a:spcAft>
              <a:defRPr sz="1200" b="0">
                <a:solidFill>
                  <a:srgbClr val="CBD5E1"/>
                </a:solidFill>
                <a:latin typeface="Segoe UI"/>
              </a:defRPr>
            </a:pPr>
          </a:p>
          <a:p>
            <a:pPr>
              <a:spcAft>
                <a:spcPts val="359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t>Disk scheduling implemented classically:</a:t>
            </a:r>
          </a:p>
          <a:p>
            <a:pPr>
              <a:spcAft>
                <a:spcPts val="359"/>
              </a:spcAft>
              <a:defRPr sz="1200" b="0">
                <a:solidFill>
                  <a:srgbClr val="CBD5E1"/>
                </a:solidFill>
                <a:latin typeface="Segoe UI"/>
              </a:defRPr>
            </a:pPr>
            <a:r>
              <a:t>  ML extension identified as future work.</a:t>
            </a:r>
          </a:p>
          <a:p>
            <a:pPr>
              <a:spcAft>
                <a:spcPts val="359"/>
              </a:spcAft>
              <a:defRPr sz="1200" b="0">
                <a:solidFill>
                  <a:srgbClr val="CBD5E1"/>
                </a:solidFill>
                <a:latin typeface="Segoe UI"/>
              </a:defRPr>
            </a:pPr>
            <a:r>
              <a:t>  Predict-then-shortest-first pattern validated</a:t>
            </a:r>
          </a:p>
          <a:p>
            <a:pPr>
              <a:spcAft>
                <a:spcPts val="359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  on CPU side has analogous I/O precedent [12].</a:t>
            </a:r>
          </a:p>
          <a:p>
            <a:pPr>
              <a:spcAft>
                <a:spcPts val="359"/>
              </a:spcAft>
              <a:defRPr sz="1200" b="0">
                <a:solidFill>
                  <a:srgbClr val="CBD5E1"/>
                </a:solidFill>
                <a:latin typeface="Segoe UI"/>
              </a:defRPr>
            </a:pPr>
          </a:p>
          <a:p>
            <a:pPr>
              <a:spcAft>
                <a:spcPts val="359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t>Decision Tree over ensemble models:</a:t>
            </a:r>
          </a:p>
          <a:p>
            <a:pPr>
              <a:spcAft>
                <a:spcPts val="359"/>
              </a:spcAft>
              <a:defRPr sz="1200" b="0">
                <a:solidFill>
                  <a:srgbClr val="CBD5E1"/>
                </a:solidFill>
                <a:latin typeface="Segoe UI"/>
              </a:defRPr>
            </a:pPr>
            <a:r>
              <a:t>  Interpretable, inspectable decision rules.</a:t>
            </a:r>
          </a:p>
          <a:p>
            <a:pPr>
              <a:spcAft>
                <a:spcPts val="359"/>
              </a:spcAft>
              <a:defRPr sz="1200" b="0">
                <a:solidFill>
                  <a:srgbClr val="CBD5E1"/>
                </a:solidFill>
                <a:latin typeface="Segoe UI"/>
              </a:defRPr>
            </a:pPr>
            <a:r>
              <a:t>  Meets 50us dispatch latency budget.</a:t>
            </a:r>
          </a:p>
          <a:p>
            <a:pPr>
              <a:spcAft>
                <a:spcPts val="359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  7.8 KB fits in L1/L2 CPU cache.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286000"/>
            <a:ext cx="5303520" cy="4114800"/>
          </a:xfrm>
          <a:prstGeom prst="roundRect">
            <a:avLst/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3774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59E0B"/>
                </a:solidFill>
                <a:latin typeface="Segoe UI"/>
              </a:defRPr>
            </a:pPr>
            <a:r>
              <a:t>LIMITATIONS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651760"/>
            <a:ext cx="13716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83464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CBD5E1"/>
                </a:solidFill>
                <a:latin typeface="Segoe UI"/>
              </a:defRPr>
            </a:pPr>
            <a:r>
              <a:t>Test set drawn from same generator stream</a:t>
            </a:r>
          </a:p>
          <a:p>
            <a:pPr>
              <a:spcAft>
                <a:spcPts val="359"/>
              </a:spcAft>
              <a:defRPr sz="1200" b="0">
                <a:solidFill>
                  <a:srgbClr val="CBD5E1"/>
                </a:solidFill>
                <a:latin typeface="Segoe UI"/>
              </a:defRPr>
            </a:pPr>
            <a:r>
              <a:t>and distributional family as training set.</a:t>
            </a:r>
          </a:p>
          <a:p>
            <a:pPr>
              <a:spcAft>
                <a:spcPts val="359"/>
              </a:spcAft>
              <a:defRPr sz="1200" b="0">
                <a:solidFill>
                  <a:srgbClr val="CBD5E1"/>
                </a:solidFill>
                <a:latin typeface="Segoe UI"/>
              </a:defRPr>
            </a:pPr>
          </a:p>
          <a:p>
            <a:pPr>
              <a:spcAft>
                <a:spcPts val="359"/>
              </a:spcAft>
              <a:defRPr sz="1200" b="0">
                <a:solidFill>
                  <a:srgbClr val="CBD5E1"/>
                </a:solidFill>
                <a:latin typeface="Segoe UI"/>
              </a:defRPr>
            </a:pPr>
            <a:r>
              <a:t>Generalization to structurally different</a:t>
            </a:r>
          </a:p>
          <a:p>
            <a:pPr>
              <a:spcAft>
                <a:spcPts val="359"/>
              </a:spcAft>
              <a:defRPr sz="1200" b="0">
                <a:solidFill>
                  <a:srgbClr val="CBD5E1"/>
                </a:solidFill>
                <a:latin typeface="Segoe UI"/>
              </a:defRPr>
            </a:pPr>
            <a:r>
              <a:t>workload distributions or real production</a:t>
            </a:r>
          </a:p>
          <a:p>
            <a:pPr>
              <a:spcAft>
                <a:spcPts val="359"/>
              </a:spcAft>
              <a:defRPr sz="1200" b="0">
                <a:solidFill>
                  <a:srgbClr val="CBD5E1"/>
                </a:solidFill>
                <a:latin typeface="Segoe UI"/>
              </a:defRPr>
            </a:pPr>
            <a:r>
              <a:t>traces is untested.</a:t>
            </a:r>
          </a:p>
          <a:p>
            <a:pPr>
              <a:spcAft>
                <a:spcPts val="359"/>
              </a:spcAft>
              <a:defRPr sz="1200" b="0">
                <a:solidFill>
                  <a:srgbClr val="CBD5E1"/>
                </a:solidFill>
                <a:latin typeface="Segoe UI"/>
              </a:defRPr>
            </a:pPr>
          </a:p>
          <a:p>
            <a:pPr>
              <a:spcAft>
                <a:spcPts val="359"/>
              </a:spcAft>
              <a:defRPr sz="1200" b="0">
                <a:solidFill>
                  <a:srgbClr val="CBD5E1"/>
                </a:solidFill>
                <a:latin typeface="Segoe UI"/>
              </a:defRPr>
            </a:pPr>
            <a:r>
              <a:t>Single-core scheduling only.</a:t>
            </a:r>
          </a:p>
          <a:p>
            <a:pPr>
              <a:spcAft>
                <a:spcPts val="359"/>
              </a:spcAft>
              <a:defRPr sz="1200" b="0">
                <a:solidFill>
                  <a:srgbClr val="CBD5E1"/>
                </a:solidFill>
                <a:latin typeface="Segoe UI"/>
              </a:defRPr>
            </a:pPr>
            <a:r>
              <a:t>Multicore extension left for future work.</a:t>
            </a:r>
          </a:p>
          <a:p>
            <a:pPr>
              <a:spcAft>
                <a:spcPts val="359"/>
              </a:spcAft>
              <a:defRPr sz="1200" b="0">
                <a:solidFill>
                  <a:srgbClr val="CBD5E1"/>
                </a:solidFill>
                <a:latin typeface="Segoe UI"/>
              </a:defRPr>
            </a:pPr>
          </a:p>
          <a:p>
            <a:pPr>
              <a:spcAft>
                <a:spcPts val="359"/>
              </a:spcAft>
              <a:defRPr sz="1200" b="0">
                <a:solidFill>
                  <a:srgbClr val="CBD5E1"/>
                </a:solidFill>
                <a:latin typeface="Segoe UI"/>
              </a:defRPr>
            </a:pPr>
            <a:r>
              <a:t>AI recommender uses synthetic heuristic</a:t>
            </a:r>
          </a:p>
          <a:p>
            <a:pPr>
              <a:spcAft>
                <a:spcPts val="359"/>
              </a:spcAft>
              <a:defRPr sz="1200" b="0">
                <a:solidFill>
                  <a:srgbClr val="CBD5E1"/>
                </a:solidFill>
                <a:latin typeface="Segoe UI"/>
              </a:defRPr>
            </a:pPr>
            <a:r>
              <a:t>training data, not empirical benchmarks.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54864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3B82F6"/>
                </a:solidFill>
                <a:latin typeface="Segoe UI"/>
              </a:defRPr>
            </a:pPr>
            <a:r>
              <a:t>SECTION 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Segoe UI"/>
              </a:defRPr>
            </a:pPr>
            <a:r>
              <a:t>Conclusion &amp; Future 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5029200" cy="4114800"/>
          </a:xfrm>
          <a:prstGeom prst="roundRect">
            <a:avLst/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0B981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651760"/>
            <a:ext cx="13716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74"/>
              </a:spcAft>
              <a:defRPr sz="1250" b="0">
                <a:solidFill>
                  <a:srgbClr val="CBD5E1"/>
                </a:solidFill>
                <a:latin typeface="Segoe UI"/>
              </a:defRPr>
            </a:pPr>
            <a:r>
              <a:t>Decision Tree Regressor predicts CPU burst</a:t>
            </a:r>
          </a:p>
          <a:p>
            <a:pPr>
              <a:spcAft>
                <a:spcPts val="374"/>
              </a:spcAft>
              <a:defRPr sz="1250" b="0">
                <a:solidFill>
                  <a:srgbClr val="CBD5E1"/>
                </a:solidFill>
                <a:latin typeface="Segoe UI"/>
              </a:defRPr>
            </a:pPr>
            <a:r>
              <a:t>times with R-squared = 0.9564, MAE = 1.19 ms.</a:t>
            </a:r>
          </a:p>
          <a:p>
            <a:pPr>
              <a:spcAft>
                <a:spcPts val="374"/>
              </a:spcAft>
              <a:defRPr sz="1250" b="0">
                <a:solidFill>
                  <a:srgbClr val="CBD5E1"/>
                </a:solidFill>
                <a:latin typeface="Segoe UI"/>
              </a:defRPr>
            </a:pPr>
          </a:p>
          <a:p>
            <a:pPr>
              <a:spcAft>
                <a:spcPts val="374"/>
              </a:spcAft>
              <a:defRPr sz="1250" b="0">
                <a:solidFill>
                  <a:srgbClr val="CBD5E1"/>
                </a:solidFill>
                <a:latin typeface="Segoe UI"/>
              </a:defRPr>
            </a:pPr>
            <a:r>
              <a:t>Two-tier adaptive fallback controls risks</a:t>
            </a:r>
          </a:p>
          <a:p>
            <a:pPr>
              <a:spcAft>
                <a:spcPts val="374"/>
              </a:spcAft>
              <a:defRPr sz="1250" b="0">
                <a:solidFill>
                  <a:srgbClr val="CBD5E1"/>
                </a:solidFill>
                <a:latin typeface="Segoe UI"/>
              </a:defRPr>
            </a:pPr>
            <a:r>
              <a:t>of wrong predictions at both process and</a:t>
            </a:r>
          </a:p>
          <a:p>
            <a:pPr>
              <a:spcAft>
                <a:spcPts val="374"/>
              </a:spcAft>
              <a:defRPr sz="1250" b="0">
                <a:solidFill>
                  <a:srgbClr val="CBD5E1"/>
                </a:solidFill>
                <a:latin typeface="Segoe UI"/>
              </a:defRPr>
            </a:pPr>
            <a:r>
              <a:t>workload levels.</a:t>
            </a:r>
          </a:p>
          <a:p>
            <a:pPr>
              <a:spcAft>
                <a:spcPts val="374"/>
              </a:spcAft>
              <a:defRPr sz="1250" b="0">
                <a:solidFill>
                  <a:srgbClr val="CBD5E1"/>
                </a:solidFill>
                <a:latin typeface="Segoe UI"/>
              </a:defRPr>
            </a:pPr>
          </a:p>
          <a:p>
            <a:pPr>
              <a:spcAft>
                <a:spcPts val="374"/>
              </a:spcAft>
              <a:defRPr sz="1250" b="1">
                <a:solidFill>
                  <a:srgbClr val="10B981"/>
                </a:solidFill>
                <a:latin typeface="Segoe UI"/>
              </a:defRPr>
            </a:pPr>
            <a:r>
              <a:t>20-35% reduction in avg waiting time vs FCFS.</a:t>
            </a:r>
          </a:p>
          <a:p>
            <a:pPr>
              <a:spcAft>
                <a:spcPts val="374"/>
              </a:spcAft>
              <a:defRPr sz="1250" b="1">
                <a:solidFill>
                  <a:srgbClr val="06B6D4"/>
                </a:solidFill>
                <a:latin typeface="Segoe UI"/>
              </a:defRPr>
            </a:pPr>
            <a:r>
              <a:t>0.0-3.6% gap from theoretical Oracle SJF.</a:t>
            </a:r>
          </a:p>
          <a:p>
            <a:pPr>
              <a:spcAft>
                <a:spcPts val="374"/>
              </a:spcAft>
              <a:defRPr sz="1250" b="0">
                <a:solidFill>
                  <a:srgbClr val="CBD5E1"/>
                </a:solidFill>
                <a:latin typeface="Segoe UI"/>
              </a:defRPr>
            </a:pPr>
          </a:p>
          <a:p>
            <a:pPr>
              <a:spcAft>
                <a:spcPts val="374"/>
              </a:spcAft>
              <a:defRPr sz="1250" b="0">
                <a:solidFill>
                  <a:srgbClr val="94A3B8"/>
                </a:solidFill>
                <a:latin typeface="Segoe UI"/>
              </a:defRPr>
            </a:pPr>
            <a:r>
              <a:t>All within 33.6 us inference latency budget.</a:t>
            </a:r>
          </a:p>
          <a:p>
            <a:pPr>
              <a:spcAft>
                <a:spcPts val="374"/>
              </a:spcAft>
              <a:defRPr sz="1250" b="0">
                <a:solidFill>
                  <a:srgbClr val="94A3B8"/>
                </a:solidFill>
                <a:latin typeface="Segoe UI"/>
              </a:defRPr>
            </a:pPr>
            <a:r>
              <a:t>11/11 automated tests passing.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286000"/>
            <a:ext cx="5303520" cy="4114800"/>
          </a:xfrm>
          <a:prstGeom prst="roundRect">
            <a:avLst/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3774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8B5CF6"/>
                </a:solidFill>
                <a:latin typeface="Segoe UI"/>
              </a:defRPr>
            </a:pPr>
            <a:r>
              <a:t>FUTURE WORK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651760"/>
            <a:ext cx="137160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83464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74"/>
              </a:spcAft>
              <a:defRPr sz="1250" b="1">
                <a:solidFill>
                  <a:srgbClr val="FFFFFF"/>
                </a:solidFill>
                <a:latin typeface="Segoe UI"/>
              </a:defRPr>
            </a:pPr>
            <a:r>
              <a:t>1. ML-Enhanced Disk Scheduling</a:t>
            </a:r>
          </a:p>
          <a:p>
            <a:pPr>
              <a:spcAft>
                <a:spcPts val="374"/>
              </a:spcAft>
              <a:defRPr sz="1250" b="0">
                <a:solidFill>
                  <a:srgbClr val="CBD5E1"/>
                </a:solidFill>
                <a:latin typeface="Segoe UI"/>
              </a:defRPr>
            </a:pPr>
            <a:r>
              <a:t>   Predict-then-shortest-first I/O scheduling</a:t>
            </a:r>
          </a:p>
          <a:p>
            <a:pPr>
              <a:spcAft>
                <a:spcPts val="374"/>
              </a:spcAft>
              <a:defRPr sz="1250" b="0">
                <a:solidFill>
                  <a:srgbClr val="94A3B8"/>
                </a:solidFill>
                <a:latin typeface="Segoe UI"/>
              </a:defRPr>
            </a:pPr>
            <a:r>
              <a:t>   as proposed in [12].</a:t>
            </a:r>
          </a:p>
          <a:p>
            <a:pPr>
              <a:spcAft>
                <a:spcPts val="374"/>
              </a:spcAft>
              <a:defRPr sz="1250" b="0">
                <a:solidFill>
                  <a:srgbClr val="CBD5E1"/>
                </a:solidFill>
                <a:latin typeface="Segoe UI"/>
              </a:defRPr>
            </a:pPr>
          </a:p>
          <a:p>
            <a:pPr>
              <a:spcAft>
                <a:spcPts val="374"/>
              </a:spcAft>
              <a:defRPr sz="1250" b="1">
                <a:solidFill>
                  <a:srgbClr val="FFFFFF"/>
                </a:solidFill>
                <a:latin typeface="Segoe UI"/>
              </a:defRPr>
            </a:pPr>
            <a:r>
              <a:t>2. Model Comparison</a:t>
            </a:r>
          </a:p>
          <a:p>
            <a:pPr>
              <a:spcAft>
                <a:spcPts val="374"/>
              </a:spcAft>
              <a:defRPr sz="1250" b="0">
                <a:solidFill>
                  <a:srgbClr val="CBD5E1"/>
                </a:solidFill>
                <a:latin typeface="Segoe UI"/>
              </a:defRPr>
            </a:pPr>
            <a:r>
              <a:t>   Small MLP vs Decision Tree to evaluate</a:t>
            </a:r>
          </a:p>
          <a:p>
            <a:pPr>
              <a:spcAft>
                <a:spcPts val="374"/>
              </a:spcAft>
              <a:defRPr sz="1250" b="0">
                <a:solidFill>
                  <a:srgbClr val="94A3B8"/>
                </a:solidFill>
                <a:latin typeface="Segoe UI"/>
              </a:defRPr>
            </a:pPr>
            <a:r>
              <a:t>   accuracy-interpretability tradeoff [8].</a:t>
            </a:r>
          </a:p>
          <a:p>
            <a:pPr>
              <a:spcAft>
                <a:spcPts val="374"/>
              </a:spcAft>
              <a:defRPr sz="1250" b="0">
                <a:solidFill>
                  <a:srgbClr val="CBD5E1"/>
                </a:solidFill>
                <a:latin typeface="Segoe UI"/>
              </a:defRPr>
            </a:pPr>
          </a:p>
          <a:p>
            <a:pPr>
              <a:spcAft>
                <a:spcPts val="374"/>
              </a:spcAft>
              <a:defRPr sz="1250" b="1">
                <a:solidFill>
                  <a:srgbClr val="FFFFFF"/>
                </a:solidFill>
                <a:latin typeface="Segoe UI"/>
              </a:defRPr>
            </a:pPr>
            <a:r>
              <a:t>3. Multicore Scheduling</a:t>
            </a:r>
          </a:p>
          <a:p>
            <a:pPr>
              <a:spcAft>
                <a:spcPts val="374"/>
              </a:spcAft>
              <a:defRPr sz="1250" b="0">
                <a:solidFill>
                  <a:srgbClr val="CBD5E1"/>
                </a:solidFill>
                <a:latin typeface="Segoe UI"/>
              </a:defRPr>
            </a:pPr>
            <a:r>
              <a:t>   Extend to multi-queue architectures</a:t>
            </a:r>
          </a:p>
          <a:p>
            <a:pPr>
              <a:spcAft>
                <a:spcPts val="374"/>
              </a:spcAft>
              <a:defRPr sz="1250" b="0">
                <a:solidFill>
                  <a:srgbClr val="94A3B8"/>
                </a:solidFill>
                <a:latin typeface="Segoe UI"/>
              </a:defRPr>
            </a:pPr>
            <a:r>
              <a:t>   as described in [10].</a:t>
            </a:r>
          </a:p>
          <a:p>
            <a:pPr>
              <a:spcAft>
                <a:spcPts val="374"/>
              </a:spcAft>
              <a:defRPr sz="1250" b="0">
                <a:solidFill>
                  <a:srgbClr val="CBD5E1"/>
                </a:solidFill>
                <a:latin typeface="Segoe UI"/>
              </a:defRPr>
            </a:pPr>
          </a:p>
          <a:p>
            <a:pPr>
              <a:spcAft>
                <a:spcPts val="374"/>
              </a:spcAft>
              <a:defRPr sz="1250" b="1">
                <a:solidFill>
                  <a:srgbClr val="FFFFFF"/>
                </a:solidFill>
                <a:latin typeface="Segoe UI"/>
              </a:defRPr>
            </a:pPr>
            <a:r>
              <a:t>4. Real Workload Traces</a:t>
            </a:r>
          </a:p>
          <a:p>
            <a:pPr>
              <a:spcAft>
                <a:spcPts val="374"/>
              </a:spcAft>
              <a:defRPr sz="1250" b="0">
                <a:solidFill>
                  <a:srgbClr val="CBD5E1"/>
                </a:solidFill>
                <a:latin typeface="Segoe UI"/>
              </a:defRPr>
            </a:pPr>
            <a:r>
              <a:t>   Validate on Google Borg or Azure traces.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54864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3B82F6"/>
                </a:solidFill>
                <a:latin typeface="Segoe UI"/>
              </a:defRPr>
            </a:pPr>
            <a:r>
              <a:t>SECTION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Segoe UI"/>
              </a:defRPr>
            </a:pPr>
            <a:r>
              <a:t>References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10698480" cy="4572000"/>
          </a:xfrm>
          <a:prstGeom prst="roundRect">
            <a:avLst/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9601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29"/>
              </a:spcAft>
              <a:defRPr sz="1100" b="0">
                <a:solidFill>
                  <a:srgbClr val="CBD5E1"/>
                </a:solidFill>
                <a:latin typeface="Consolas"/>
              </a:defRPr>
            </a:pPr>
            <a:r>
              <a:t>[1] T. Helmy et al., "ML-based approach to estimate CPU-burst time," IEEE AIMS, 2015.</a:t>
            </a:r>
          </a:p>
          <a:p>
            <a:pPr>
              <a:spcAft>
                <a:spcPts val="329"/>
              </a:spcAft>
              <a:defRPr sz="1100" b="0">
                <a:solidFill>
                  <a:srgbClr val="CBD5E1"/>
                </a:solidFill>
                <a:latin typeface="Consolas"/>
              </a:defRPr>
            </a:pPr>
            <a:r>
              <a:t>[2] "CPU Burst-Time Estimation using ML," IEEE DELCON, 2022.</a:t>
            </a:r>
          </a:p>
          <a:p>
            <a:pPr>
              <a:spcAft>
                <a:spcPts val="329"/>
              </a:spcAft>
              <a:defRPr sz="1100" b="0">
                <a:solidFill>
                  <a:srgbClr val="CBD5E1"/>
                </a:solidFill>
                <a:latin typeface="Consolas"/>
              </a:defRPr>
            </a:pPr>
            <a:r>
              <a:t>[3] "Predicting CPU Burst Times with ML for SJF/SRTF," ResearchGate, 2025.</a:t>
            </a:r>
          </a:p>
          <a:p>
            <a:pPr>
              <a:spcAft>
                <a:spcPts val="329"/>
              </a:spcAft>
              <a:defRPr sz="1100" b="0">
                <a:solidFill>
                  <a:srgbClr val="CBD5E1"/>
                </a:solidFill>
                <a:latin typeface="Consolas"/>
              </a:defRPr>
            </a:pPr>
            <a:r>
              <a:t>[4] "Leakage-Safe ML for Grid Job Runtime Prediction," arXiv:2609.13701, 2025.</a:t>
            </a:r>
          </a:p>
          <a:p>
            <a:pPr>
              <a:spcAft>
                <a:spcPts val="329"/>
              </a:spcAft>
              <a:defRPr sz="1100" b="0">
                <a:solidFill>
                  <a:srgbClr val="CBD5E1"/>
                </a:solidFill>
                <a:latin typeface="Consolas"/>
              </a:defRPr>
            </a:pPr>
            <a:r>
              <a:t>[5] "Mixture-of-Schedulers: Learned Router for Expert Policies," arXiv:2511.11628, 2025.</a:t>
            </a:r>
          </a:p>
          <a:p>
            <a:pPr>
              <a:spcAft>
                <a:spcPts val="329"/>
              </a:spcAft>
              <a:defRPr sz="1100" b="0">
                <a:solidFill>
                  <a:srgbClr val="CBD5E1"/>
                </a:solidFill>
                <a:latin typeface="Consolas"/>
              </a:defRPr>
            </a:pPr>
            <a:r>
              <a:t>[6] "KernelOracle: Predicting Linux CFS with Deep Learning," arXiv:2505.15213, 2025.</a:t>
            </a:r>
          </a:p>
          <a:p>
            <a:pPr>
              <a:spcAft>
                <a:spcPts val="329"/>
              </a:spcAft>
              <a:defRPr sz="1100" b="0">
                <a:solidFill>
                  <a:srgbClr val="CBD5E1"/>
                </a:solidFill>
                <a:latin typeface="Consolas"/>
              </a:defRPr>
            </a:pPr>
            <a:r>
              <a:t>[7] "Aegis: A Learning-Based Linux Scheduler," arXiv:2510.08479, 2025.</a:t>
            </a:r>
          </a:p>
          <a:p>
            <a:pPr>
              <a:spcAft>
                <a:spcPts val="329"/>
              </a:spcAft>
              <a:defRPr sz="1100" b="0">
                <a:solidFill>
                  <a:srgbClr val="CBD5E1"/>
                </a:solidFill>
                <a:latin typeface="Consolas"/>
              </a:defRPr>
            </a:pPr>
            <a:r>
              <a:t>[8] "ML for Energy-Performance-aware Scheduling," arXiv:2601.23134, 2026.</a:t>
            </a:r>
          </a:p>
          <a:p>
            <a:pPr>
              <a:spcAft>
                <a:spcPts val="329"/>
              </a:spcAft>
              <a:defRPr sz="1100" b="0">
                <a:solidFill>
                  <a:srgbClr val="CBD5E1"/>
                </a:solidFill>
                <a:latin typeface="Consolas"/>
              </a:defRPr>
            </a:pPr>
            <a:r>
              <a:t>[9] "ML for Scheduling: Solver-Centric to Data-Centric," arXiv:2512.22642, 2025.</a:t>
            </a:r>
          </a:p>
          <a:p>
            <a:pPr>
              <a:spcAft>
                <a:spcPts val="329"/>
              </a:spcAft>
              <a:defRPr sz="1100" b="0">
                <a:solidFill>
                  <a:srgbClr val="CBD5E1"/>
                </a:solidFill>
                <a:latin typeface="Consolas"/>
              </a:defRPr>
            </a:pPr>
            <a:r>
              <a:t>[10] "CPU scheduling: classical to learning-based," Computing, Springer, 2026.</a:t>
            </a:r>
          </a:p>
          <a:p>
            <a:pPr>
              <a:spcAft>
                <a:spcPts val="329"/>
              </a:spcAft>
              <a:defRPr sz="1100" b="0">
                <a:solidFill>
                  <a:srgbClr val="CBD5E1"/>
                </a:solidFill>
                <a:latin typeface="Consolas"/>
              </a:defRPr>
            </a:pPr>
            <a:r>
              <a:t>[11] "Deep Learning for Deadlock Detection," IEEE, 2025.</a:t>
            </a:r>
          </a:p>
          <a:p>
            <a:pPr>
              <a:spcAft>
                <a:spcPts val="329"/>
              </a:spcAft>
              <a:defRPr sz="1100" b="0">
                <a:solidFill>
                  <a:srgbClr val="CBD5E1"/>
                </a:solidFill>
                <a:latin typeface="Consolas"/>
              </a:defRPr>
            </a:pPr>
            <a:r>
              <a:t>[12] A. Joukov et al., "ML-Based I/O Scheduling," Stony Brook, FSL-25-07, 2025.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350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FFFFFF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383280"/>
            <a:ext cx="210312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1">
                <a:solidFill>
                  <a:srgbClr val="94A3B8"/>
                </a:solidFill>
                <a:latin typeface="Segoe UI"/>
              </a:defRPr>
            </a:pPr>
            <a: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CBD5E1"/>
                </a:solidFill>
                <a:latin typeface="Segoe UI"/>
              </a:defRPr>
            </a:pPr>
            <a:r>
              <a:t>Dr. Amar Buchade  |  amar.buchade@vit.edu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120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Segoe UI"/>
              </a:defRPr>
            </a:pPr>
            <a:r>
              <a:t>Swaroop Lenka  |  Samarth Kulkarni  |  Madhur Nichal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4864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94A3B8"/>
                </a:solidFill>
                <a:latin typeface="Segoe UI"/>
              </a:defRPr>
            </a:pPr>
            <a:r>
              <a:t>Department of AI and Data Science, VIT Pune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